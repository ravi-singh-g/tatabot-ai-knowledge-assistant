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19"/>
  </p:notesMasterIdLst>
  <p:sldIdLst>
    <p:sldId id="256" r:id="rId3"/>
    <p:sldId id="257" r:id="rId4"/>
    <p:sldId id="258" r:id="rId5"/>
    <p:sldId id="259" r:id="rId6"/>
    <p:sldId id="261" r:id="rId7"/>
    <p:sldId id="260" r:id="rId8"/>
    <p:sldId id="262" r:id="rId9"/>
    <p:sldId id="263" r:id="rId10"/>
    <p:sldId id="288" r:id="rId11"/>
    <p:sldId id="265" r:id="rId12"/>
    <p:sldId id="266" r:id="rId13"/>
    <p:sldId id="267" r:id="rId14"/>
    <p:sldId id="268" r:id="rId15"/>
    <p:sldId id="269" r:id="rId16"/>
    <p:sldId id="270" r:id="rId17"/>
    <p:sldId id="291"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58" y="7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561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868164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341C98D-793B-B6E3-AA65-627ADA00F6A6}"/>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CF0B1CB8-40A9-41E0-9D6D-2F574C98F4D9}"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9</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097" name="Rectangle 1">
            <a:extLst>
              <a:ext uri="{FF2B5EF4-FFF2-40B4-BE49-F238E27FC236}">
                <a16:creationId xmlns:a16="http://schemas.microsoft.com/office/drawing/2014/main" id="{049D4441-51F2-1A22-5545-8BA9A7D52F46}"/>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anchor="ctr" anchorCtr="0" compatLnSpc="1">
            <a:prstTxWarp prst="textNoShape">
              <a:avLst/>
            </a:prstTxWarp>
          </a:bodyPr>
          <a:lstStyle/>
          <a:p>
            <a:endParaRPr lang="en-IN"/>
          </a:p>
        </p:txBody>
      </p:sp>
      <p:sp>
        <p:nvSpPr>
          <p:cNvPr id="4098" name="Rectangle 2">
            <a:extLst>
              <a:ext uri="{FF2B5EF4-FFF2-40B4-BE49-F238E27FC236}">
                <a16:creationId xmlns:a16="http://schemas.microsoft.com/office/drawing/2014/main" id="{DBCC01E1-801A-6B5F-E36B-7BF69DB06337}"/>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4099" name="Text Box 3">
            <a:extLst>
              <a:ext uri="{FF2B5EF4-FFF2-40B4-BE49-F238E27FC236}">
                <a16:creationId xmlns:a16="http://schemas.microsoft.com/office/drawing/2014/main" id="{485A2C16-B738-1E57-BDB4-511602C3734D}"/>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Noto Sans CJK SC" charset="0"/>
              </a:defRPr>
            </a:lvl1pPr>
            <a:lvl2pPr>
              <a:tabLst>
                <a:tab pos="914400" algn="l"/>
                <a:tab pos="1828800" algn="l"/>
                <a:tab pos="2743200" algn="l"/>
              </a:tabLst>
              <a:defRPr>
                <a:solidFill>
                  <a:srgbClr val="000000"/>
                </a:solidFill>
                <a:latin typeface="Arial" panose="020B0604020202020204" pitchFamily="34" charset="0"/>
                <a:cs typeface="Noto Sans CJK SC" charset="0"/>
              </a:defRPr>
            </a:lvl2pPr>
            <a:lvl3pPr>
              <a:tabLst>
                <a:tab pos="914400" algn="l"/>
                <a:tab pos="1828800" algn="l"/>
                <a:tab pos="2743200" algn="l"/>
              </a:tabLst>
              <a:defRPr>
                <a:solidFill>
                  <a:srgbClr val="000000"/>
                </a:solidFill>
                <a:latin typeface="Arial" panose="020B0604020202020204" pitchFamily="34" charset="0"/>
                <a:cs typeface="Noto Sans CJK SC" charset="0"/>
              </a:defRPr>
            </a:lvl3pPr>
            <a:lvl4pPr>
              <a:tabLst>
                <a:tab pos="914400" algn="l"/>
                <a:tab pos="1828800" algn="l"/>
                <a:tab pos="2743200" algn="l"/>
              </a:tabLst>
              <a:defRPr>
                <a:solidFill>
                  <a:srgbClr val="000000"/>
                </a:solidFill>
                <a:latin typeface="Arial" panose="020B0604020202020204" pitchFamily="34" charset="0"/>
                <a:cs typeface="Noto Sans CJK SC" charset="0"/>
              </a:defRPr>
            </a:lvl4pPr>
            <a:lvl5pPr>
              <a:tabLst>
                <a:tab pos="914400" algn="l"/>
                <a:tab pos="1828800" algn="l"/>
                <a:tab pos="27432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Noto Sans CJK SC" charset="0"/>
              </a:defRPr>
            </a:lvl9pPr>
          </a:lstStyle>
          <a:p>
            <a:pPr marL="0" marR="0" lvl="0" indent="0" algn="r" defTabSz="914400" rtl="0" eaLnBrk="1" fontAlgn="base" latinLnBrk="0"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D7823BF2-D08B-454D-B1C2-BC0E2EF14508}"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a:ea typeface="+mn-ea"/>
                <a:cs typeface="+mn-ea" charset="0"/>
              </a:rPr>
              <a:pPr marL="0" marR="0" lvl="0" indent="0" algn="r" defTabSz="914400" rtl="0" eaLnBrk="1" fontAlgn="base" latinLnBrk="0"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9</a:t>
            </a:fld>
            <a:endParaRPr kumimoji="0" lang="en-US" altLang="en-US" sz="1200" b="0" i="0" u="none" strike="noStrike" kern="1200" cap="none" spc="0" normalizeH="0" baseline="0" noProof="0">
              <a:ln>
                <a:noFill/>
              </a:ln>
              <a:solidFill>
                <a:srgbClr val="000000"/>
              </a:solidFill>
              <a:effectLst/>
              <a:uLnTx/>
              <a:uFillTx/>
              <a:latin typeface="Calibri" panose="020F0502020204030204"/>
              <a:ea typeface="+mn-ea"/>
              <a:cs typeface="+mn-ea"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ED891-93D2-1EC8-0EDE-6E58A5E5F49B}"/>
              </a:ext>
            </a:extLst>
          </p:cNvPr>
          <p:cNvSpPr>
            <a:spLocks noGrp="1"/>
          </p:cNvSpPr>
          <p:nvPr>
            <p:ph type="ctrTitle"/>
          </p:nvPr>
        </p:nvSpPr>
        <p:spPr>
          <a:xfrm>
            <a:off x="1143000" y="841772"/>
            <a:ext cx="6858000" cy="1790700"/>
          </a:xfrm>
          <a:prstGeom prst="rect">
            <a:avLst/>
          </a:prstGeo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672A4F2-4266-2B29-9B49-6ADF7AD4EF83}"/>
              </a:ext>
            </a:extLst>
          </p:cNvPr>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Tree>
    <p:extLst>
      <p:ext uri="{BB962C8B-B14F-4D97-AF65-F5344CB8AC3E}">
        <p14:creationId xmlns:p14="http://schemas.microsoft.com/office/powerpoint/2010/main" val="2968390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C38E6-9081-8504-C344-A309C36D0022}"/>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000BFA-524B-36C7-8F60-BEAEA019EC75}"/>
              </a:ext>
            </a:extLst>
          </p:cNvPr>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114762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A5A64-C847-BCF2-39F0-9A5D3C0F7954}"/>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3E477C-E11E-4EBE-019A-C774D5D0E96F}"/>
              </a:ext>
            </a:extLst>
          </p:cNvPr>
          <p:cNvSpPr>
            <a:spLocks noGrp="1"/>
          </p:cNvSpPr>
          <p:nvPr>
            <p:ph type="body" idx="1"/>
          </p:nvPr>
        </p:nvSpPr>
        <p:spPr>
          <a:xfrm>
            <a:off x="623888" y="3442098"/>
            <a:ext cx="7886700" cy="1125140"/>
          </a:xfrm>
          <a:prstGeom prst="rect">
            <a:avLst/>
          </a:prstGeo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Tree>
    <p:extLst>
      <p:ext uri="{BB962C8B-B14F-4D97-AF65-F5344CB8AC3E}">
        <p14:creationId xmlns:p14="http://schemas.microsoft.com/office/powerpoint/2010/main" val="276747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67403-4096-51F2-C31D-B6C619F50ECF}"/>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AC7F34-70F2-C824-0981-711C2744F194}"/>
              </a:ext>
            </a:extLst>
          </p:cNvPr>
          <p:cNvSpPr>
            <a:spLocks noGrp="1"/>
          </p:cNvSpPr>
          <p:nvPr>
            <p:ph sz="half" idx="1"/>
          </p:nvPr>
        </p:nvSpPr>
        <p:spPr>
          <a:xfrm>
            <a:off x="6286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B80CF3-CFA5-4FDE-33EE-253CDBB39F88}"/>
              </a:ext>
            </a:extLst>
          </p:cNvPr>
          <p:cNvSpPr>
            <a:spLocks noGrp="1"/>
          </p:cNvSpPr>
          <p:nvPr>
            <p:ph sz="half" idx="2"/>
          </p:nvPr>
        </p:nvSpPr>
        <p:spPr>
          <a:xfrm>
            <a:off x="46291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50397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E339-2F0A-31B1-993E-52F6FD2FC8DE}"/>
              </a:ext>
            </a:extLst>
          </p:cNvPr>
          <p:cNvSpPr>
            <a:spLocks noGrp="1"/>
          </p:cNvSpPr>
          <p:nvPr>
            <p:ph type="title"/>
          </p:nvPr>
        </p:nvSpPr>
        <p:spPr>
          <a:xfrm>
            <a:off x="629841" y="273844"/>
            <a:ext cx="7886700" cy="994172"/>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F2B272-D4FF-AE77-8716-61D905131644}"/>
              </a:ext>
            </a:extLst>
          </p:cNvPr>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8A72FC4-EA39-B8E8-F5D3-E77DC7525BE9}"/>
              </a:ext>
            </a:extLst>
          </p:cNvPr>
          <p:cNvSpPr>
            <a:spLocks noGrp="1"/>
          </p:cNvSpPr>
          <p:nvPr>
            <p:ph sz="half" idx="2"/>
          </p:nvPr>
        </p:nvSpPr>
        <p:spPr>
          <a:xfrm>
            <a:off x="629842" y="1878806"/>
            <a:ext cx="3868340"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6FAE96-0667-4567-C4DA-7744592BE114}"/>
              </a:ext>
            </a:extLst>
          </p:cNvPr>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C261B-AE20-F656-E396-D6F108F6E06A}"/>
              </a:ext>
            </a:extLst>
          </p:cNvPr>
          <p:cNvSpPr>
            <a:spLocks noGrp="1"/>
          </p:cNvSpPr>
          <p:nvPr>
            <p:ph sz="quarter" idx="4"/>
          </p:nvPr>
        </p:nvSpPr>
        <p:spPr>
          <a:xfrm>
            <a:off x="4629150" y="1878806"/>
            <a:ext cx="3887391"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9599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7D429-D436-FF03-0443-71E77C07098E}"/>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79342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95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9B8C4-CBFD-2D37-C71D-887E30A4A749}"/>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3685D8-6518-E77C-0118-6905A1DC38B6}"/>
              </a:ext>
            </a:extLst>
          </p:cNvPr>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0D8956-9B91-1FA5-A1EC-D3E20F63C3DD}"/>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830918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4EB4-3874-C1AD-4658-560F651F7873}"/>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692CE3-2310-96F4-A84E-86F274CB3934}"/>
              </a:ext>
            </a:extLst>
          </p:cNvPr>
          <p:cNvSpPr>
            <a:spLocks noGrp="1"/>
          </p:cNvSpPr>
          <p:nvPr>
            <p:ph type="pic" idx="1"/>
          </p:nvPr>
        </p:nvSpPr>
        <p:spPr>
          <a:xfrm>
            <a:off x="3887391"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A899EAF5-35D4-ECF6-FBDE-A67EF8F0E4F4}"/>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58405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87E23-8D95-D8FC-BB10-F14C18769E1B}"/>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879260-F3AD-8740-9BFE-DEC34DC22054}"/>
              </a:ext>
            </a:extLst>
          </p:cNvPr>
          <p:cNvSpPr>
            <a:spLocks noGrp="1"/>
          </p:cNvSpPr>
          <p:nvPr>
            <p:ph type="body" orient="vert" idx="1"/>
          </p:nvPr>
        </p:nvSpPr>
        <p:spPr>
          <a:xfrm>
            <a:off x="628650" y="1369219"/>
            <a:ext cx="7886700" cy="32635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3778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A84B2B-530A-A731-0CA8-40F527B14F7B}"/>
              </a:ext>
            </a:extLst>
          </p:cNvPr>
          <p:cNvSpPr>
            <a:spLocks noGrp="1"/>
          </p:cNvSpPr>
          <p:nvPr>
            <p:ph type="title" orient="vert"/>
          </p:nvPr>
        </p:nvSpPr>
        <p:spPr>
          <a:xfrm>
            <a:off x="6543675" y="273844"/>
            <a:ext cx="1971675" cy="4358879"/>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C13F89-601A-5B42-E04E-4F67998E9152}"/>
              </a:ext>
            </a:extLst>
          </p:cNvPr>
          <p:cNvSpPr>
            <a:spLocks noGrp="1"/>
          </p:cNvSpPr>
          <p:nvPr>
            <p:ph type="body" orient="vert" idx="1"/>
          </p:nvPr>
        </p:nvSpPr>
        <p:spPr>
          <a:xfrm>
            <a:off x="628650" y="273844"/>
            <a:ext cx="5800725" cy="43588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13852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65801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rtl="0" fontAlgn="base">
        <a:lnSpc>
          <a:spcPct val="102000"/>
        </a:lnSpc>
        <a:spcBef>
          <a:spcPts val="10"/>
        </a:spcBef>
        <a:spcAft>
          <a:spcPts val="10"/>
        </a:spcAft>
        <a:buClr>
          <a:srgbClr val="000000"/>
        </a:buClr>
        <a:buSzPct val="100000"/>
        <a:buFont typeface="Times New Roman" panose="02020603050405020304" pitchFamily="18" charset="0"/>
        <a:defRPr kern="1200">
          <a:solidFill>
            <a:srgbClr val="000000"/>
          </a:solidFill>
          <a:latin typeface="+mj-lt"/>
          <a:ea typeface="+mj-ea"/>
          <a:cs typeface="+mj-cs"/>
        </a:defRPr>
      </a:lvl1pPr>
      <a:lvl2pPr marL="557213" indent="-214313"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2pPr>
      <a:lvl3pPr marL="857250" indent="-171450"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3pPr>
      <a:lvl4pPr marL="1200150" indent="-171450"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4pPr>
      <a:lvl5pPr marL="1543050" indent="-171450"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5pPr>
      <a:lvl6pPr marL="1885950" indent="-171450"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6pPr>
      <a:lvl7pPr marL="2228850" indent="-171450"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7pPr>
      <a:lvl8pPr marL="2571750" indent="-171450"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8pPr>
      <a:lvl9pPr marL="2914650" indent="-171450" algn="l" rtl="0" fontAlgn="base">
        <a:lnSpc>
          <a:spcPct val="102000"/>
        </a:lnSpc>
        <a:spcBef>
          <a:spcPts val="10"/>
        </a:spcBef>
        <a:spcAft>
          <a:spcPts val="10"/>
        </a:spcAft>
        <a:buClr>
          <a:srgbClr val="000000"/>
        </a:buClr>
        <a:buSzPct val="100000"/>
        <a:buFont typeface="Times New Roman" panose="02020603050405020304" pitchFamily="18" charset="0"/>
        <a:defRPr>
          <a:solidFill>
            <a:srgbClr val="000000"/>
          </a:solidFill>
          <a:latin typeface="Calibri" panose="020F0502020204030204" pitchFamily="34" charset="0"/>
          <a:cs typeface="Noto Sans CJK SC" charset="0"/>
        </a:defRPr>
      </a:lvl9pPr>
    </p:titleStyle>
    <p:bodyStyle>
      <a:lvl1pPr marL="257175" indent="-257175" algn="l" rtl="0" fontAlgn="base">
        <a:lnSpc>
          <a:spcPct val="102000"/>
        </a:lnSpc>
        <a:spcBef>
          <a:spcPts val="1069"/>
        </a:spcBef>
        <a:spcAft>
          <a:spcPts val="10"/>
        </a:spcAft>
        <a:buClr>
          <a:srgbClr val="000000"/>
        </a:buClr>
        <a:buSzPct val="100000"/>
        <a:buFont typeface="Times New Roman" panose="02020603050405020304" pitchFamily="18" charset="0"/>
        <a:defRPr sz="2400" kern="1200">
          <a:solidFill>
            <a:srgbClr val="000000"/>
          </a:solidFill>
          <a:latin typeface="+mn-lt"/>
          <a:ea typeface="+mn-ea"/>
          <a:cs typeface="+mn-cs"/>
        </a:defRPr>
      </a:lvl1pPr>
      <a:lvl2pPr marL="557213" indent="-214313" algn="l" rtl="0" fontAlgn="base">
        <a:lnSpc>
          <a:spcPct val="102000"/>
        </a:lnSpc>
        <a:spcBef>
          <a:spcPts val="854"/>
        </a:spcBef>
        <a:spcAft>
          <a:spcPts val="10"/>
        </a:spcAft>
        <a:buClr>
          <a:srgbClr val="000000"/>
        </a:buClr>
        <a:buSzPct val="100000"/>
        <a:buFont typeface="Times New Roman" panose="02020603050405020304" pitchFamily="18" charset="0"/>
        <a:defRPr sz="1800" kern="1200">
          <a:solidFill>
            <a:srgbClr val="000000"/>
          </a:solidFill>
          <a:latin typeface="+mn-lt"/>
          <a:ea typeface="+mn-ea"/>
          <a:cs typeface="+mn-cs"/>
        </a:defRPr>
      </a:lvl2pPr>
      <a:lvl3pPr marL="857250" indent="-171450" algn="l" rtl="0" fontAlgn="base">
        <a:lnSpc>
          <a:spcPct val="102000"/>
        </a:lnSpc>
        <a:spcBef>
          <a:spcPts val="647"/>
        </a:spcBef>
        <a:spcAft>
          <a:spcPts val="10"/>
        </a:spcAft>
        <a:buClr>
          <a:srgbClr val="000000"/>
        </a:buClr>
        <a:buSzPct val="100000"/>
        <a:buFont typeface="Times New Roman" panose="02020603050405020304" pitchFamily="18" charset="0"/>
        <a:defRPr sz="1500" kern="1200">
          <a:solidFill>
            <a:srgbClr val="000000"/>
          </a:solidFill>
          <a:latin typeface="+mn-lt"/>
          <a:ea typeface="+mn-ea"/>
          <a:cs typeface="+mn-cs"/>
        </a:defRPr>
      </a:lvl3pPr>
      <a:lvl4pPr marL="1200150" indent="-171450" algn="l" rtl="0" fontAlgn="base">
        <a:lnSpc>
          <a:spcPct val="102000"/>
        </a:lnSpc>
        <a:spcBef>
          <a:spcPts val="431"/>
        </a:spcBef>
        <a:spcAft>
          <a:spcPts val="10"/>
        </a:spcAft>
        <a:buClr>
          <a:srgbClr val="000000"/>
        </a:buClr>
        <a:buSzPct val="100000"/>
        <a:buFont typeface="Times New Roman" panose="02020603050405020304" pitchFamily="18" charset="0"/>
        <a:defRPr sz="1500" kern="1200">
          <a:solidFill>
            <a:srgbClr val="000000"/>
          </a:solidFill>
          <a:latin typeface="+mn-lt"/>
          <a:ea typeface="+mn-ea"/>
          <a:cs typeface="+mn-cs"/>
        </a:defRPr>
      </a:lvl4pPr>
      <a:lvl5pPr marL="1543050" indent="-171450" algn="l" rtl="0" fontAlgn="base">
        <a:lnSpc>
          <a:spcPct val="102000"/>
        </a:lnSpc>
        <a:spcBef>
          <a:spcPts val="216"/>
        </a:spcBef>
        <a:spcAft>
          <a:spcPts val="10"/>
        </a:spcAft>
        <a:buClr>
          <a:srgbClr val="000000"/>
        </a:buClr>
        <a:buSzPct val="100000"/>
        <a:buFont typeface="Times New Roman" panose="02020603050405020304" pitchFamily="18" charset="0"/>
        <a:defRPr sz="1500" kern="1200">
          <a:solidFill>
            <a:srgbClr val="000000"/>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21C4E333-B2C6-EB96-5B43-80143F290D56}"/>
              </a:ext>
            </a:extLst>
          </p:cNvPr>
          <p:cNvSpPr/>
          <p:nvPr/>
        </p:nvSpPr>
        <p:spPr>
          <a:xfrm>
            <a:off x="6491606" y="2420179"/>
            <a:ext cx="2467102" cy="1981458"/>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979BF8B5-E99E-7F75-6FCB-3A86939047F9}"/>
              </a:ext>
            </a:extLst>
          </p:cNvPr>
          <p:cNvSpPr/>
          <p:nvPr/>
        </p:nvSpPr>
        <p:spPr>
          <a:xfrm>
            <a:off x="3147256" y="2448560"/>
            <a:ext cx="3157840" cy="1981458"/>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A0C9F95C-6F3A-281A-43B6-06E9F88D3CF3}"/>
              </a:ext>
            </a:extLst>
          </p:cNvPr>
          <p:cNvSpPr/>
          <p:nvPr/>
        </p:nvSpPr>
        <p:spPr>
          <a:xfrm>
            <a:off x="376174" y="2448560"/>
            <a:ext cx="2595120" cy="1981458"/>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 name="Shape 0"/>
          <p:cNvSpPr/>
          <p:nvPr/>
        </p:nvSpPr>
        <p:spPr>
          <a:xfrm>
            <a:off x="0" y="0"/>
            <a:ext cx="167386" cy="5143500"/>
          </a:xfrm>
          <a:prstGeom prst="rect">
            <a:avLst/>
          </a:prstGeom>
          <a:solidFill>
            <a:srgbClr val="002060"/>
          </a:solidFill>
          <a:ln/>
        </p:spPr>
        <p:txBody>
          <a:bodyPr/>
          <a:lstStyle/>
          <a:p>
            <a:endParaRPr lang="en-IN" dirty="0">
              <a:solidFill>
                <a:schemeClr val="accent5">
                  <a:lumMod val="60000"/>
                  <a:lumOff val="40000"/>
                </a:schemeClr>
              </a:solidFill>
              <a:highlight>
                <a:srgbClr val="FFFF00"/>
              </a:highlight>
              <a:latin typeface="Times New Roman" panose="02020603050405020304" pitchFamily="18" charset="0"/>
              <a:cs typeface="Times New Roman" panose="02020603050405020304" pitchFamily="18" charset="0"/>
            </a:endParaRPr>
          </a:p>
        </p:txBody>
      </p:sp>
      <p:sp>
        <p:nvSpPr>
          <p:cNvPr id="4" name="Text 2"/>
          <p:cNvSpPr/>
          <p:nvPr/>
        </p:nvSpPr>
        <p:spPr>
          <a:xfrm>
            <a:off x="1804289" y="342900"/>
            <a:ext cx="5372608" cy="365760"/>
          </a:xfrm>
          <a:prstGeom prst="rect">
            <a:avLst/>
          </a:prstGeom>
          <a:noFill/>
          <a:ln/>
        </p:spPr>
        <p:txBody>
          <a:bodyPr wrap="square" rtlCol="0" anchor="ctr"/>
          <a:lstStyle/>
          <a:p>
            <a:pPr marL="0" indent="0" algn="ctr">
              <a:buNone/>
            </a:pPr>
            <a:r>
              <a:rPr lang="en-US" sz="2000" b="1" kern="0" spc="200" dirty="0">
                <a:solidFill>
                  <a:srgbClr val="AED6F1"/>
                </a:solidFill>
                <a:latin typeface="Times New Roman" panose="02020603050405020304" pitchFamily="18" charset="0"/>
                <a:cs typeface="Times New Roman" panose="02020603050405020304" pitchFamily="18" charset="0"/>
              </a:rPr>
              <a:t>SUMMER INTERNSHIP PRESENTATION</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1690497" y="758148"/>
            <a:ext cx="5443855" cy="683173"/>
          </a:xfrm>
          <a:prstGeom prst="rect">
            <a:avLst/>
          </a:prstGeom>
          <a:noFill/>
          <a:ln/>
        </p:spPr>
        <p:txBody>
          <a:bodyPr wrap="square" rtlCol="0" anchor="ctr"/>
          <a:lstStyle/>
          <a:p>
            <a:pPr algn="ctr"/>
            <a:r>
              <a:rPr lang="en-IN" sz="2800" b="1" dirty="0">
                <a:solidFill>
                  <a:schemeClr val="accent5">
                    <a:lumMod val="60000"/>
                    <a:lumOff val="40000"/>
                  </a:schemeClr>
                </a:solidFill>
                <a:latin typeface="Times New Roman" panose="02020603050405020304" pitchFamily="18" charset="0"/>
                <a:ea typeface="Calibri" pitchFamily="34" charset="-122"/>
                <a:cs typeface="Times New Roman" panose="02020603050405020304" pitchFamily="18" charset="0"/>
              </a:rPr>
              <a:t>Future Workforce at Tata Steel</a:t>
            </a:r>
          </a:p>
        </p:txBody>
      </p:sp>
      <p:sp>
        <p:nvSpPr>
          <p:cNvPr id="8" name="Shape 6"/>
          <p:cNvSpPr/>
          <p:nvPr/>
        </p:nvSpPr>
        <p:spPr>
          <a:xfrm>
            <a:off x="365761" y="2078529"/>
            <a:ext cx="8610854" cy="45719"/>
          </a:xfrm>
          <a:prstGeom prst="rect">
            <a:avLst/>
          </a:prstGeom>
          <a:solidFill>
            <a:srgbClr val="002060"/>
          </a:solidFill>
          <a:ln/>
        </p:spPr>
        <p:txBody>
          <a:bodyPr/>
          <a:lstStyle/>
          <a:p>
            <a:endParaRPr lang="en-IN">
              <a:latin typeface="Times New Roman" panose="02020603050405020304" pitchFamily="18" charset="0"/>
              <a:cs typeface="Times New Roman" panose="02020603050405020304" pitchFamily="18" charset="0"/>
            </a:endParaRPr>
          </a:p>
        </p:txBody>
      </p:sp>
      <p:pic>
        <p:nvPicPr>
          <p:cNvPr id="26" name="Image 1">
            <a:extLst>
              <a:ext uri="{FF2B5EF4-FFF2-40B4-BE49-F238E27FC236}">
                <a16:creationId xmlns:a16="http://schemas.microsoft.com/office/drawing/2014/main" id="{812F4718-08DB-AC9E-E2E6-8D968AF9217D}"/>
              </a:ext>
            </a:extLst>
          </p:cNvPr>
          <p:cNvPicPr>
            <a:picLocks/>
          </p:cNvPicPr>
          <p:nvPr/>
        </p:nvPicPr>
        <p:blipFill>
          <a:blip r:embed="rId3" cstate="print"/>
          <a:stretch>
            <a:fillRect/>
          </a:stretch>
        </p:blipFill>
        <p:spPr>
          <a:xfrm>
            <a:off x="329184" y="91440"/>
            <a:ext cx="1361313" cy="1234440"/>
          </a:xfrm>
          <a:prstGeom prst="rect">
            <a:avLst/>
          </a:prstGeom>
        </p:spPr>
      </p:pic>
      <p:pic>
        <p:nvPicPr>
          <p:cNvPr id="30" name="Picture 29">
            <a:extLst>
              <a:ext uri="{FF2B5EF4-FFF2-40B4-BE49-F238E27FC236}">
                <a16:creationId xmlns:a16="http://schemas.microsoft.com/office/drawing/2014/main" id="{4403EE3B-151D-DA70-A86B-CB38CF5CFAD8}"/>
              </a:ext>
            </a:extLst>
          </p:cNvPr>
          <p:cNvPicPr>
            <a:picLocks noChangeAspect="1"/>
          </p:cNvPicPr>
          <p:nvPr/>
        </p:nvPicPr>
        <p:blipFill>
          <a:blip r:embed="rId4"/>
          <a:stretch>
            <a:fillRect/>
          </a:stretch>
        </p:blipFill>
        <p:spPr>
          <a:xfrm>
            <a:off x="7134353" y="208367"/>
            <a:ext cx="1842262" cy="909147"/>
          </a:xfrm>
          <a:prstGeom prst="rect">
            <a:avLst/>
          </a:prstGeom>
        </p:spPr>
      </p:pic>
      <p:sp>
        <p:nvSpPr>
          <p:cNvPr id="32" name="Text 3">
            <a:extLst>
              <a:ext uri="{FF2B5EF4-FFF2-40B4-BE49-F238E27FC236}">
                <a16:creationId xmlns:a16="http://schemas.microsoft.com/office/drawing/2014/main" id="{5428333D-43CA-D65A-573E-C1759766814B}"/>
              </a:ext>
            </a:extLst>
          </p:cNvPr>
          <p:cNvSpPr/>
          <p:nvPr/>
        </p:nvSpPr>
        <p:spPr>
          <a:xfrm>
            <a:off x="329184" y="1441322"/>
            <a:ext cx="8548243" cy="408864"/>
          </a:xfrm>
          <a:prstGeom prst="rect">
            <a:avLst/>
          </a:prstGeom>
          <a:noFill/>
          <a:ln/>
        </p:spPr>
        <p:txBody>
          <a:bodyPr wrap="square" rtlCol="0" anchor="ctr"/>
          <a:lstStyle/>
          <a:p>
            <a:pPr algn="ctr"/>
            <a:r>
              <a:rPr lang="en-IN" sz="2000" b="1" i="1" dirty="0">
                <a:solidFill>
                  <a:schemeClr val="accent5">
                    <a:lumMod val="60000"/>
                    <a:lumOff val="40000"/>
                  </a:schemeClr>
                </a:solidFill>
                <a:latin typeface="Times New Roman" panose="02020603050405020304" pitchFamily="18" charset="0"/>
                <a:ea typeface="Calibri" pitchFamily="34" charset="-122"/>
                <a:cs typeface="Times New Roman" panose="02020603050405020304" pitchFamily="18" charset="0"/>
              </a:rPr>
              <a:t>TataBot — An AI-Powered Knowledge Assistant for Learning &amp; Development</a:t>
            </a:r>
          </a:p>
        </p:txBody>
      </p:sp>
      <p:sp>
        <p:nvSpPr>
          <p:cNvPr id="33" name="TextBox 32">
            <a:extLst>
              <a:ext uri="{FF2B5EF4-FFF2-40B4-BE49-F238E27FC236}">
                <a16:creationId xmlns:a16="http://schemas.microsoft.com/office/drawing/2014/main" id="{CB1D87CD-C78C-1484-E560-528D55180FD2}"/>
              </a:ext>
            </a:extLst>
          </p:cNvPr>
          <p:cNvSpPr txBox="1"/>
          <p:nvPr/>
        </p:nvSpPr>
        <p:spPr>
          <a:xfrm>
            <a:off x="386975" y="2356574"/>
            <a:ext cx="2595121" cy="1807995"/>
          </a:xfrm>
          <a:prstGeom prst="rect">
            <a:avLst/>
          </a:prstGeom>
          <a:noFill/>
        </p:spPr>
        <p:txBody>
          <a:bodyPr wrap="square" rtlCol="0">
            <a:spAutoFit/>
          </a:bodyPr>
          <a:lstStyle/>
          <a:p>
            <a:pPr>
              <a:lnSpc>
                <a:spcPct val="150000"/>
              </a:lnSpc>
            </a:pPr>
            <a:r>
              <a:rPr lang="en-IN" sz="2000" b="1" dirty="0">
                <a:solidFill>
                  <a:schemeClr val="bg1"/>
                </a:solidFill>
                <a:latin typeface="Times New Roman" panose="02020603050405020304" pitchFamily="18" charset="0"/>
                <a:cs typeface="Times New Roman" panose="02020603050405020304" pitchFamily="18" charset="0"/>
              </a:rPr>
              <a:t>Presented By :</a:t>
            </a:r>
            <a:endParaRPr lang="en-IN" sz="1100" b="1"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Ravi Raushan Singh</a:t>
            </a: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B.Tech - Computer Science  </a:t>
            </a: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&amp; Engineering (4rd Year)</a:t>
            </a: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Roll No: BTECH/60311/23</a:t>
            </a:r>
          </a:p>
        </p:txBody>
      </p:sp>
      <p:sp>
        <p:nvSpPr>
          <p:cNvPr id="35" name="TextBox 34">
            <a:extLst>
              <a:ext uri="{FF2B5EF4-FFF2-40B4-BE49-F238E27FC236}">
                <a16:creationId xmlns:a16="http://schemas.microsoft.com/office/drawing/2014/main" id="{990408EF-5ED1-E8F5-6035-F8C84B774F1D}"/>
              </a:ext>
            </a:extLst>
          </p:cNvPr>
          <p:cNvSpPr txBox="1"/>
          <p:nvPr/>
        </p:nvSpPr>
        <p:spPr>
          <a:xfrm>
            <a:off x="3147256" y="2381656"/>
            <a:ext cx="3157841" cy="1161665"/>
          </a:xfrm>
          <a:prstGeom prst="rect">
            <a:avLst/>
          </a:prstGeom>
          <a:noFill/>
        </p:spPr>
        <p:txBody>
          <a:bodyPr wrap="square" rtlCol="0">
            <a:spAutoFit/>
          </a:bodyPr>
          <a:lstStyle/>
          <a:p>
            <a:pPr>
              <a:lnSpc>
                <a:spcPct val="150000"/>
              </a:lnSpc>
            </a:pPr>
            <a:r>
              <a:rPr lang="en-IN" sz="2000" b="1" dirty="0">
                <a:solidFill>
                  <a:schemeClr val="bg1"/>
                </a:solidFill>
                <a:latin typeface="Times New Roman" panose="02020603050405020304" pitchFamily="18" charset="0"/>
                <a:cs typeface="Times New Roman" panose="02020603050405020304" pitchFamily="18" charset="0"/>
              </a:rPr>
              <a:t>Under the Guidance of</a:t>
            </a:r>
            <a:endParaRPr lang="en-IN" sz="1100" b="1"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Ms. Anita Kushwaha</a:t>
            </a: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Internal Guide, BIT Mesra </a:t>
            </a:r>
            <a:endParaRPr lang="en-IN" sz="1200" dirty="0">
              <a:solidFill>
                <a:schemeClr val="bg1"/>
              </a:solidFill>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608E162D-97E3-8F25-F298-39C7442269A2}"/>
              </a:ext>
            </a:extLst>
          </p:cNvPr>
          <p:cNvSpPr txBox="1"/>
          <p:nvPr/>
        </p:nvSpPr>
        <p:spPr>
          <a:xfrm>
            <a:off x="6501192" y="2345015"/>
            <a:ext cx="2642808" cy="1161665"/>
          </a:xfrm>
          <a:prstGeom prst="rect">
            <a:avLst/>
          </a:prstGeom>
          <a:noFill/>
        </p:spPr>
        <p:txBody>
          <a:bodyPr wrap="square" rtlCol="0">
            <a:spAutoFit/>
          </a:bodyPr>
          <a:lstStyle/>
          <a:p>
            <a:pPr>
              <a:lnSpc>
                <a:spcPct val="150000"/>
              </a:lnSpc>
            </a:pPr>
            <a:r>
              <a:rPr lang="en-IN" sz="2000" b="1" dirty="0">
                <a:solidFill>
                  <a:schemeClr val="bg1"/>
                </a:solidFill>
                <a:latin typeface="Times New Roman" panose="02020603050405020304" pitchFamily="18" charset="0"/>
                <a:cs typeface="Times New Roman" panose="02020603050405020304" pitchFamily="18" charset="0"/>
              </a:rPr>
              <a:t>Industry Mentor :</a:t>
            </a: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Mr. Abhinav Ashish</a:t>
            </a:r>
          </a:p>
          <a:p>
            <a:pPr>
              <a:lnSpc>
                <a:spcPct val="150000"/>
              </a:lnSpc>
            </a:pPr>
            <a:r>
              <a:rPr lang="en-IN" sz="1400" b="1" dirty="0">
                <a:solidFill>
                  <a:schemeClr val="bg1"/>
                </a:solidFill>
                <a:latin typeface="Times New Roman" panose="02020603050405020304" pitchFamily="18" charset="0"/>
                <a:cs typeface="Times New Roman" panose="02020603050405020304" pitchFamily="18" charset="0"/>
              </a:rPr>
              <a:t>Tata Steel</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FB8904EF-D10F-F174-F336-577FA9A7F346}"/>
              </a:ext>
            </a:extLst>
          </p:cNvPr>
          <p:cNvSpPr/>
          <p:nvPr/>
        </p:nvSpPr>
        <p:spPr>
          <a:xfrm>
            <a:off x="1384662" y="4704080"/>
            <a:ext cx="6357257" cy="3479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8D7ACD1-2886-B4AF-8016-05116D03CF4F}"/>
              </a:ext>
            </a:extLst>
          </p:cNvPr>
          <p:cNvSpPr txBox="1"/>
          <p:nvPr/>
        </p:nvSpPr>
        <p:spPr>
          <a:xfrm>
            <a:off x="1295400" y="4638764"/>
            <a:ext cx="6553200" cy="461665"/>
          </a:xfrm>
          <a:prstGeom prst="rect">
            <a:avLst/>
          </a:prstGeom>
          <a:noFill/>
        </p:spPr>
        <p:txBody>
          <a:bodyPr wrap="square" rtlCol="0">
            <a:spAutoFit/>
          </a:bodyPr>
          <a:lstStyle/>
          <a:p>
            <a:pPr algn="ctr"/>
            <a:r>
              <a:rPr lang="en-IN" sz="2400" dirty="0">
                <a:solidFill>
                  <a:schemeClr val="bg1"/>
                </a:solidFill>
                <a:latin typeface="Times New Roman" panose="02020603050405020304" pitchFamily="18" charset="0"/>
                <a:cs typeface="Times New Roman" panose="02020603050405020304" pitchFamily="18" charset="0"/>
              </a:rPr>
              <a:t>Internship Duration :  </a:t>
            </a:r>
            <a:r>
              <a:rPr lang="en-IN" dirty="0">
                <a:solidFill>
                  <a:schemeClr val="bg1"/>
                </a:solidFill>
                <a:latin typeface="Times New Roman" panose="02020603050405020304" pitchFamily="18" charset="0"/>
                <a:cs typeface="Times New Roman" panose="02020603050405020304" pitchFamily="18" charset="0"/>
              </a:rPr>
              <a:t>May 19, 2026 – July 14, 2026</a:t>
            </a:r>
            <a:endParaRPr lang="en-IN"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INTERNSHIP CERTIFICATE</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2170176" y="777240"/>
            <a:ext cx="4767072" cy="4178808"/>
          </a:xfrm>
          <a:prstGeom prst="rect">
            <a:avLst/>
          </a:prstGeom>
          <a:solidFill>
            <a:srgbClr val="F0F0F0"/>
          </a:solidFill>
          <a:ln w="25400">
            <a:solidFill>
              <a:srgbClr val="1B4F72"/>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1371600" y="2468880"/>
            <a:ext cx="6400800" cy="457200"/>
          </a:xfrm>
          <a:prstGeom prst="rect">
            <a:avLst/>
          </a:prstGeom>
          <a:noFill/>
          <a:ln/>
        </p:spPr>
        <p:txBody>
          <a:bodyPr wrap="square" rtlCol="0" anchor="ctr"/>
          <a:lstStyle/>
          <a:p>
            <a:pPr marL="0" indent="0" algn="ctr">
              <a:buNone/>
            </a:pP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0" y="4975926"/>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92C435E-0727-4F1D-A89E-37956EF13BA8}"/>
              </a:ext>
            </a:extLst>
          </p:cNvPr>
          <p:cNvPicPr>
            <a:picLocks noChangeAspect="1"/>
          </p:cNvPicPr>
          <p:nvPr/>
        </p:nvPicPr>
        <p:blipFill>
          <a:blip r:embed="rId3"/>
          <a:srcRect b="22489"/>
          <a:stretch>
            <a:fillRect/>
          </a:stretch>
        </p:blipFill>
        <p:spPr>
          <a:xfrm>
            <a:off x="2170176" y="777240"/>
            <a:ext cx="4767072" cy="41788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1" y="91440"/>
            <a:ext cx="914400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PROFILE OF THE ORGANISATION — TATA STEEL LIMITED</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82880" y="804672"/>
            <a:ext cx="8778240" cy="6858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5" name="Shape 3"/>
          <p:cNvSpPr/>
          <p:nvPr/>
        </p:nvSpPr>
        <p:spPr>
          <a:xfrm>
            <a:off x="182880" y="804672"/>
            <a:ext cx="64008"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6" name="Text 4"/>
          <p:cNvSpPr/>
          <p:nvPr/>
        </p:nvSpPr>
        <p:spPr>
          <a:xfrm>
            <a:off x="246888" y="992124"/>
            <a:ext cx="2359152" cy="292608"/>
          </a:xfrm>
          <a:prstGeom prst="rect">
            <a:avLst/>
          </a:prstGeom>
          <a:noFill/>
          <a:ln/>
        </p:spPr>
        <p:txBody>
          <a:bodyPr wrap="square" rtlCol="0" anchor="ctr"/>
          <a:lstStyle/>
          <a:p>
            <a:pPr marL="0" indent="0">
              <a:buNone/>
            </a:pPr>
            <a:r>
              <a:rPr lang="en-US" sz="2200" b="1" dirty="0">
                <a:solidFill>
                  <a:srgbClr val="1B4F72"/>
                </a:solidFill>
                <a:latin typeface="Times New Roman" panose="02020603050405020304" pitchFamily="18" charset="0"/>
                <a:cs typeface="Times New Roman" panose="02020603050405020304" pitchFamily="18" charset="0"/>
              </a:rPr>
              <a:t>🏭 Founded:</a:t>
            </a:r>
            <a:endParaRPr lang="en-US" sz="2200" dirty="0">
              <a:latin typeface="Times New Roman" panose="02020603050405020304" pitchFamily="18" charset="0"/>
              <a:cs typeface="Times New Roman" panose="02020603050405020304" pitchFamily="18" charset="0"/>
            </a:endParaRPr>
          </a:p>
        </p:txBody>
      </p:sp>
      <p:sp>
        <p:nvSpPr>
          <p:cNvPr id="7" name="Text 5"/>
          <p:cNvSpPr/>
          <p:nvPr/>
        </p:nvSpPr>
        <p:spPr>
          <a:xfrm>
            <a:off x="3184781" y="877824"/>
            <a:ext cx="5712331" cy="50292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In 1907 Founded by </a:t>
            </a:r>
            <a:r>
              <a:rPr lang="en-IN" sz="2000" dirty="0" err="1">
                <a:solidFill>
                  <a:srgbClr val="0D1B2A"/>
                </a:solidFill>
                <a:latin typeface="Times New Roman" panose="02020603050405020304" pitchFamily="18" charset="0"/>
                <a:cs typeface="Times New Roman" panose="02020603050405020304" pitchFamily="18" charset="0"/>
              </a:rPr>
              <a:t>Jamsetji</a:t>
            </a:r>
            <a:r>
              <a:rPr lang="en-IN" sz="2000" dirty="0">
                <a:solidFill>
                  <a:srgbClr val="0D1B2A"/>
                </a:solidFill>
                <a:latin typeface="Times New Roman" panose="02020603050405020304" pitchFamily="18" charset="0"/>
                <a:cs typeface="Times New Roman" panose="02020603050405020304" pitchFamily="18" charset="0"/>
              </a:rPr>
              <a:t> Tata</a:t>
            </a:r>
          </a:p>
          <a:p>
            <a:r>
              <a:rPr lang="en-IN" sz="2000" dirty="0">
                <a:solidFill>
                  <a:srgbClr val="0D1B2A"/>
                </a:solidFill>
                <a:latin typeface="Times New Roman" panose="02020603050405020304" pitchFamily="18" charset="0"/>
                <a:cs typeface="Times New Roman" panose="02020603050405020304" pitchFamily="18" charset="0"/>
              </a:rPr>
              <a:t>One of India's leading steel producers</a:t>
            </a:r>
            <a:endParaRPr lang="en-US" sz="2000" dirty="0">
              <a:latin typeface="Times New Roman" panose="02020603050405020304" pitchFamily="18" charset="0"/>
              <a:cs typeface="Times New Roman" panose="02020603050405020304" pitchFamily="18" charset="0"/>
            </a:endParaRPr>
          </a:p>
        </p:txBody>
      </p:sp>
      <p:sp>
        <p:nvSpPr>
          <p:cNvPr id="8" name="Shape 6"/>
          <p:cNvSpPr/>
          <p:nvPr/>
        </p:nvSpPr>
        <p:spPr>
          <a:xfrm>
            <a:off x="182880" y="1627632"/>
            <a:ext cx="8778240" cy="6858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9" name="Shape 7"/>
          <p:cNvSpPr/>
          <p:nvPr/>
        </p:nvSpPr>
        <p:spPr>
          <a:xfrm>
            <a:off x="182880" y="1627632"/>
            <a:ext cx="64008"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8"/>
          <p:cNvSpPr/>
          <p:nvPr/>
        </p:nvSpPr>
        <p:spPr>
          <a:xfrm>
            <a:off x="214884" y="1795490"/>
            <a:ext cx="3010989" cy="292608"/>
          </a:xfrm>
          <a:prstGeom prst="rect">
            <a:avLst/>
          </a:prstGeom>
          <a:noFill/>
          <a:ln/>
        </p:spPr>
        <p:txBody>
          <a:bodyPr wrap="square" rtlCol="0" anchor="ctr"/>
          <a:lstStyle/>
          <a:p>
            <a:pPr marL="0" indent="0">
              <a:buNone/>
            </a:pPr>
            <a:r>
              <a:rPr lang="en-US" sz="2200" b="1" dirty="0">
                <a:solidFill>
                  <a:srgbClr val="1B4F72"/>
                </a:solidFill>
                <a:latin typeface="Times New Roman" panose="02020603050405020304" pitchFamily="18" charset="0"/>
                <a:cs typeface="Times New Roman" panose="02020603050405020304" pitchFamily="18" charset="0"/>
              </a:rPr>
              <a:t>🌍 Global Presence:</a:t>
            </a:r>
            <a:endParaRPr lang="en-US" sz="2200" dirty="0">
              <a:latin typeface="Times New Roman" panose="02020603050405020304" pitchFamily="18" charset="0"/>
              <a:cs typeface="Times New Roman" panose="02020603050405020304" pitchFamily="18" charset="0"/>
            </a:endParaRPr>
          </a:p>
        </p:txBody>
      </p:sp>
      <p:sp>
        <p:nvSpPr>
          <p:cNvPr id="11" name="Text 9"/>
          <p:cNvSpPr/>
          <p:nvPr/>
        </p:nvSpPr>
        <p:spPr>
          <a:xfrm>
            <a:off x="3184782" y="1700784"/>
            <a:ext cx="5712332" cy="50292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Operations across 26 countries</a:t>
            </a:r>
          </a:p>
          <a:p>
            <a:r>
              <a:rPr lang="en-IN" sz="2000" dirty="0">
                <a:solidFill>
                  <a:srgbClr val="0D1B2A"/>
                </a:solidFill>
                <a:latin typeface="Times New Roman" panose="02020603050405020304" pitchFamily="18" charset="0"/>
                <a:cs typeface="Times New Roman" panose="02020603050405020304" pitchFamily="18" charset="0"/>
              </a:rPr>
              <a:t>Serving 50+ markets</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182880" y="2450592"/>
            <a:ext cx="8778240" cy="6858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3" name="Shape 11"/>
          <p:cNvSpPr/>
          <p:nvPr/>
        </p:nvSpPr>
        <p:spPr>
          <a:xfrm>
            <a:off x="182880" y="2450592"/>
            <a:ext cx="64008"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2"/>
          <p:cNvSpPr/>
          <p:nvPr/>
        </p:nvSpPr>
        <p:spPr>
          <a:xfrm>
            <a:off x="214883" y="2628900"/>
            <a:ext cx="2645883" cy="292608"/>
          </a:xfrm>
          <a:prstGeom prst="rect">
            <a:avLst/>
          </a:prstGeom>
          <a:noFill/>
          <a:ln/>
        </p:spPr>
        <p:txBody>
          <a:bodyPr wrap="square" rtlCol="0" anchor="ctr"/>
          <a:lstStyle/>
          <a:p>
            <a:pPr marL="0" indent="0">
              <a:buNone/>
            </a:pPr>
            <a:r>
              <a:rPr lang="en-US" sz="2200" b="1" dirty="0">
                <a:solidFill>
                  <a:srgbClr val="1B4F72"/>
                </a:solidFill>
                <a:latin typeface="Times New Roman" panose="02020603050405020304" pitchFamily="18" charset="0"/>
                <a:cs typeface="Times New Roman" panose="02020603050405020304" pitchFamily="18" charset="0"/>
              </a:rPr>
              <a:t>👥 Workforce:</a:t>
            </a:r>
            <a:endParaRPr lang="en-US" sz="2200" dirty="0">
              <a:latin typeface="Times New Roman" panose="02020603050405020304" pitchFamily="18" charset="0"/>
              <a:cs typeface="Times New Roman" panose="02020603050405020304" pitchFamily="18" charset="0"/>
            </a:endParaRPr>
          </a:p>
        </p:txBody>
      </p:sp>
      <p:sp>
        <p:nvSpPr>
          <p:cNvPr id="15" name="Text 13"/>
          <p:cNvSpPr/>
          <p:nvPr/>
        </p:nvSpPr>
        <p:spPr>
          <a:xfrm>
            <a:off x="3184782" y="2523744"/>
            <a:ext cx="5712331" cy="50292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80,000+ employees globally</a:t>
            </a:r>
          </a:p>
          <a:p>
            <a:r>
              <a:rPr lang="en-IN" sz="2000" dirty="0">
                <a:solidFill>
                  <a:srgbClr val="0D1B2A"/>
                </a:solidFill>
                <a:latin typeface="Times New Roman" panose="02020603050405020304" pitchFamily="18" charset="0"/>
                <a:cs typeface="Times New Roman" panose="02020603050405020304" pitchFamily="18" charset="0"/>
              </a:rPr>
              <a:t>Large workforce across India</a:t>
            </a:r>
            <a:endParaRPr lang="en-US" sz="2000" dirty="0">
              <a:latin typeface="Times New Roman" panose="02020603050405020304" pitchFamily="18" charset="0"/>
              <a:cs typeface="Times New Roman" panose="02020603050405020304" pitchFamily="18" charset="0"/>
            </a:endParaRPr>
          </a:p>
        </p:txBody>
      </p:sp>
      <p:sp>
        <p:nvSpPr>
          <p:cNvPr id="16" name="Shape 14"/>
          <p:cNvSpPr/>
          <p:nvPr/>
        </p:nvSpPr>
        <p:spPr>
          <a:xfrm>
            <a:off x="182880" y="3273552"/>
            <a:ext cx="8778240" cy="6858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7" name="Shape 15"/>
          <p:cNvSpPr/>
          <p:nvPr/>
        </p:nvSpPr>
        <p:spPr>
          <a:xfrm>
            <a:off x="182880" y="3273552"/>
            <a:ext cx="64008"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8" name="Text 16"/>
          <p:cNvSpPr/>
          <p:nvPr/>
        </p:nvSpPr>
        <p:spPr>
          <a:xfrm>
            <a:off x="214883" y="3451860"/>
            <a:ext cx="2391157" cy="292608"/>
          </a:xfrm>
          <a:prstGeom prst="rect">
            <a:avLst/>
          </a:prstGeom>
          <a:noFill/>
          <a:ln/>
        </p:spPr>
        <p:txBody>
          <a:bodyPr wrap="square" rtlCol="0" anchor="ctr"/>
          <a:lstStyle/>
          <a:p>
            <a:pPr marL="0" indent="0">
              <a:buNone/>
            </a:pPr>
            <a:r>
              <a:rPr lang="en-US" sz="2200" b="1" dirty="0">
                <a:solidFill>
                  <a:srgbClr val="1B4F72"/>
                </a:solidFill>
                <a:latin typeface="Times New Roman" panose="02020603050405020304" pitchFamily="18" charset="0"/>
                <a:cs typeface="Times New Roman" panose="02020603050405020304" pitchFamily="18" charset="0"/>
              </a:rPr>
              <a:t>⚙️ Capacity:</a:t>
            </a:r>
            <a:endParaRPr lang="en-US" sz="2200" dirty="0">
              <a:latin typeface="Times New Roman" panose="02020603050405020304" pitchFamily="18" charset="0"/>
              <a:cs typeface="Times New Roman" panose="02020603050405020304" pitchFamily="18" charset="0"/>
            </a:endParaRPr>
          </a:p>
        </p:txBody>
      </p:sp>
      <p:sp>
        <p:nvSpPr>
          <p:cNvPr id="19" name="Text 17"/>
          <p:cNvSpPr/>
          <p:nvPr/>
        </p:nvSpPr>
        <p:spPr>
          <a:xfrm>
            <a:off x="3184781" y="3346704"/>
            <a:ext cx="5712332" cy="502920"/>
          </a:xfrm>
          <a:prstGeom prst="rect">
            <a:avLst/>
          </a:prstGeom>
          <a:noFill/>
          <a:ln/>
        </p:spPr>
        <p:txBody>
          <a:bodyPr wrap="square" rtlCol="0" anchor="ctr"/>
          <a:lstStyle/>
          <a:p>
            <a:pPr marL="0" indent="0">
              <a:buNone/>
            </a:pPr>
            <a:r>
              <a:rPr lang="en-US" sz="2000" dirty="0">
                <a:solidFill>
                  <a:srgbClr val="0D1B2A"/>
                </a:solidFill>
                <a:latin typeface="Times New Roman" panose="02020603050405020304" pitchFamily="18" charset="0"/>
                <a:cs typeface="Times New Roman" panose="02020603050405020304" pitchFamily="18" charset="0"/>
              </a:rPr>
              <a:t>35+ MTPA crude steel capacity </a:t>
            </a:r>
          </a:p>
          <a:p>
            <a:pPr marL="0" indent="0">
              <a:buNone/>
            </a:pPr>
            <a:r>
              <a:rPr lang="en-US" sz="2000" dirty="0">
                <a:solidFill>
                  <a:srgbClr val="0D1B2A"/>
                </a:solidFill>
                <a:latin typeface="Times New Roman" panose="02020603050405020304" pitchFamily="18" charset="0"/>
                <a:cs typeface="Times New Roman" panose="02020603050405020304" pitchFamily="18" charset="0"/>
              </a:rPr>
              <a:t>One of the world's largest producers</a:t>
            </a:r>
            <a:endParaRPr lang="en-US" sz="2000" dirty="0">
              <a:latin typeface="Times New Roman" panose="02020603050405020304" pitchFamily="18" charset="0"/>
              <a:cs typeface="Times New Roman" panose="02020603050405020304" pitchFamily="18" charset="0"/>
            </a:endParaRPr>
          </a:p>
        </p:txBody>
      </p:sp>
      <p:sp>
        <p:nvSpPr>
          <p:cNvPr id="20" name="Shape 18"/>
          <p:cNvSpPr/>
          <p:nvPr/>
        </p:nvSpPr>
        <p:spPr>
          <a:xfrm>
            <a:off x="182880" y="4096512"/>
            <a:ext cx="8778240" cy="6858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21" name="Shape 19"/>
          <p:cNvSpPr/>
          <p:nvPr/>
        </p:nvSpPr>
        <p:spPr>
          <a:xfrm>
            <a:off x="182880" y="4096512"/>
            <a:ext cx="64008"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2" name="Text 20"/>
          <p:cNvSpPr/>
          <p:nvPr/>
        </p:nvSpPr>
        <p:spPr>
          <a:xfrm>
            <a:off x="228600" y="4187952"/>
            <a:ext cx="2997273" cy="502920"/>
          </a:xfrm>
          <a:prstGeom prst="rect">
            <a:avLst/>
          </a:prstGeom>
          <a:noFill/>
          <a:ln/>
        </p:spPr>
        <p:txBody>
          <a:bodyPr wrap="square" rtlCol="0" anchor="ctr"/>
          <a:lstStyle/>
          <a:p>
            <a:pPr marL="0" indent="0">
              <a:buNone/>
            </a:pPr>
            <a:r>
              <a:rPr lang="en-US" sz="2200" b="1" dirty="0">
                <a:solidFill>
                  <a:srgbClr val="1B4F72"/>
                </a:solidFill>
                <a:latin typeface="Times New Roman" panose="02020603050405020304" pitchFamily="18" charset="0"/>
                <a:cs typeface="Times New Roman" panose="02020603050405020304" pitchFamily="18" charset="0"/>
              </a:rPr>
              <a:t>🎓  L&amp;D Department:</a:t>
            </a:r>
            <a:endParaRPr lang="en-US" sz="2200" dirty="0">
              <a:latin typeface="Times New Roman" panose="02020603050405020304" pitchFamily="18" charset="0"/>
              <a:cs typeface="Times New Roman" panose="02020603050405020304" pitchFamily="18" charset="0"/>
            </a:endParaRPr>
          </a:p>
        </p:txBody>
      </p:sp>
      <p:sp>
        <p:nvSpPr>
          <p:cNvPr id="23" name="Text 21"/>
          <p:cNvSpPr/>
          <p:nvPr/>
        </p:nvSpPr>
        <p:spPr>
          <a:xfrm>
            <a:off x="3184781" y="4169664"/>
            <a:ext cx="5712332" cy="502920"/>
          </a:xfrm>
          <a:prstGeom prst="rect">
            <a:avLst/>
          </a:prstGeom>
          <a:noFill/>
          <a:ln/>
        </p:spPr>
        <p:txBody>
          <a:bodyPr wrap="square" rtlCol="0" anchor="ctr"/>
          <a:lstStyle/>
          <a:p>
            <a:r>
              <a:rPr lang="en-IN" sz="2000">
                <a:solidFill>
                  <a:srgbClr val="0D1B2A"/>
                </a:solidFill>
                <a:latin typeface="Times New Roman" panose="02020603050405020304" pitchFamily="18" charset="0"/>
                <a:cs typeface="Times New Roman" panose="02020603050405020304" pitchFamily="18" charset="0"/>
              </a:rPr>
              <a:t>Supports employee development through training, skills and leadership programmes</a:t>
            </a:r>
            <a:endParaRPr lang="en-US" sz="2000" dirty="0">
              <a:latin typeface="Times New Roman" panose="02020603050405020304" pitchFamily="18" charset="0"/>
              <a:cs typeface="Times New Roman" panose="02020603050405020304" pitchFamily="18" charset="0"/>
            </a:endParaRPr>
          </a:p>
        </p:txBody>
      </p:sp>
      <p:sp>
        <p:nvSpPr>
          <p:cNvPr id="24" name="Text 22"/>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OBJECTIVES OF THE INTERNSHIP</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76355" y="978408"/>
            <a:ext cx="347472" cy="347472"/>
          </a:xfrm>
          <a:prstGeom prst="ellipse">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179478" y="968469"/>
            <a:ext cx="347472" cy="347472"/>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561709" y="918319"/>
            <a:ext cx="8307972" cy="45720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Understand key Learning &amp; Development challenges at Tata Steel.</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209010" y="1515294"/>
            <a:ext cx="8686800" cy="18288"/>
          </a:xfrm>
          <a:prstGeom prst="rect">
            <a:avLst/>
          </a:prstGeom>
          <a:solidFill>
            <a:srgbClr val="E0E0E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8" name="Shape 6"/>
          <p:cNvSpPr/>
          <p:nvPr/>
        </p:nvSpPr>
        <p:spPr>
          <a:xfrm>
            <a:off x="176355" y="1664208"/>
            <a:ext cx="347472" cy="347472"/>
          </a:xfrm>
          <a:prstGeom prst="ellipse">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9" name="Text 7"/>
          <p:cNvSpPr/>
          <p:nvPr/>
        </p:nvSpPr>
        <p:spPr>
          <a:xfrm>
            <a:off x="179478" y="1654269"/>
            <a:ext cx="347472" cy="347472"/>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561708" y="1583218"/>
            <a:ext cx="8307973" cy="45720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Design an AI-based solution for personalised, on-demand learning.</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209010" y="2201094"/>
            <a:ext cx="8686800" cy="18288"/>
          </a:xfrm>
          <a:prstGeom prst="rect">
            <a:avLst/>
          </a:prstGeom>
          <a:solidFill>
            <a:srgbClr val="E0E0E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2" name="Shape 10"/>
          <p:cNvSpPr/>
          <p:nvPr/>
        </p:nvSpPr>
        <p:spPr>
          <a:xfrm>
            <a:off x="176355" y="2350008"/>
            <a:ext cx="347472" cy="347472"/>
          </a:xfrm>
          <a:prstGeom prst="ellipse">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1"/>
          <p:cNvSpPr/>
          <p:nvPr/>
        </p:nvSpPr>
        <p:spPr>
          <a:xfrm>
            <a:off x="189417" y="2350008"/>
            <a:ext cx="347472" cy="347472"/>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cs typeface="Times New Roman" panose="02020603050405020304" pitchFamily="18" charset="0"/>
              </a:rPr>
              <a:t>3</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561708" y="2269018"/>
            <a:ext cx="8307972" cy="45720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Develop TataBot, an AI Knowledge Assistant prototype.</a:t>
            </a:r>
          </a:p>
        </p:txBody>
      </p:sp>
      <p:sp>
        <p:nvSpPr>
          <p:cNvPr id="15" name="Shape 13"/>
          <p:cNvSpPr/>
          <p:nvPr/>
        </p:nvSpPr>
        <p:spPr>
          <a:xfrm>
            <a:off x="209010" y="2886894"/>
            <a:ext cx="8686800" cy="18288"/>
          </a:xfrm>
          <a:prstGeom prst="rect">
            <a:avLst/>
          </a:prstGeom>
          <a:solidFill>
            <a:srgbClr val="E0E0E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6" name="Shape 14"/>
          <p:cNvSpPr/>
          <p:nvPr/>
        </p:nvSpPr>
        <p:spPr>
          <a:xfrm>
            <a:off x="176355" y="3035808"/>
            <a:ext cx="347472" cy="347472"/>
          </a:xfrm>
          <a:prstGeom prst="ellipse">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5"/>
          <p:cNvSpPr/>
          <p:nvPr/>
        </p:nvSpPr>
        <p:spPr>
          <a:xfrm>
            <a:off x="179478" y="3015930"/>
            <a:ext cx="347472" cy="347472"/>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cs typeface="Times New Roman" panose="02020603050405020304" pitchFamily="18" charset="0"/>
              </a:rPr>
              <a:t>4</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561708" y="2978332"/>
            <a:ext cx="8229600" cy="45720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Use RAG and role detection to provide relevant and reliable answers.</a:t>
            </a:r>
          </a:p>
        </p:txBody>
      </p:sp>
      <p:sp>
        <p:nvSpPr>
          <p:cNvPr id="19" name="Shape 17"/>
          <p:cNvSpPr/>
          <p:nvPr/>
        </p:nvSpPr>
        <p:spPr>
          <a:xfrm>
            <a:off x="209010" y="3572694"/>
            <a:ext cx="8686800" cy="18288"/>
          </a:xfrm>
          <a:prstGeom prst="rect">
            <a:avLst/>
          </a:prstGeom>
          <a:solidFill>
            <a:srgbClr val="E0E0E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0" name="Shape 18"/>
          <p:cNvSpPr/>
          <p:nvPr/>
        </p:nvSpPr>
        <p:spPr>
          <a:xfrm>
            <a:off x="176355" y="3721608"/>
            <a:ext cx="347472" cy="347472"/>
          </a:xfrm>
          <a:prstGeom prst="ellipse">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1" name="Text 19"/>
          <p:cNvSpPr/>
          <p:nvPr/>
        </p:nvSpPr>
        <p:spPr>
          <a:xfrm>
            <a:off x="179478" y="3701730"/>
            <a:ext cx="347472" cy="347472"/>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cs typeface="Times New Roman" panose="02020603050405020304" pitchFamily="18" charset="0"/>
              </a:rPr>
              <a:t>5</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561708" y="3648456"/>
            <a:ext cx="8543108" cy="45720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Study the business impact of TataBot, including scalability and potential benefits.</a:t>
            </a:r>
            <a:endParaRPr lang="en-US" sz="2000" dirty="0">
              <a:latin typeface="Times New Roman" panose="02020603050405020304" pitchFamily="18" charset="0"/>
              <a:cs typeface="Times New Roman" panose="02020603050405020304" pitchFamily="18" charset="0"/>
            </a:endParaRPr>
          </a:p>
        </p:txBody>
      </p:sp>
      <p:sp>
        <p:nvSpPr>
          <p:cNvPr id="23" name="Shape 21"/>
          <p:cNvSpPr/>
          <p:nvPr/>
        </p:nvSpPr>
        <p:spPr>
          <a:xfrm>
            <a:off x="209010" y="4258494"/>
            <a:ext cx="8686800" cy="18288"/>
          </a:xfrm>
          <a:prstGeom prst="rect">
            <a:avLst/>
          </a:prstGeom>
          <a:solidFill>
            <a:srgbClr val="E0E0E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4" name="Shape 22"/>
          <p:cNvSpPr/>
          <p:nvPr/>
        </p:nvSpPr>
        <p:spPr>
          <a:xfrm>
            <a:off x="176355" y="4407408"/>
            <a:ext cx="347472" cy="347472"/>
          </a:xfrm>
          <a:prstGeom prst="ellipse">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5" name="Text 23"/>
          <p:cNvSpPr/>
          <p:nvPr/>
        </p:nvSpPr>
        <p:spPr>
          <a:xfrm>
            <a:off x="166416" y="4387530"/>
            <a:ext cx="347472" cy="347472"/>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cs typeface="Times New Roman" panose="02020603050405020304" pitchFamily="18" charset="0"/>
              </a:rPr>
              <a:t>6</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561708" y="4334256"/>
            <a:ext cx="8229600" cy="45720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Prepare a business case and future roadmap for the solution.</a:t>
            </a:r>
            <a:endParaRPr lang="en-US" sz="2000" dirty="0">
              <a:latin typeface="Times New Roman" panose="02020603050405020304" pitchFamily="18" charset="0"/>
              <a:cs typeface="Times New Roman" panose="02020603050405020304" pitchFamily="18" charset="0"/>
            </a:endParaRPr>
          </a:p>
        </p:txBody>
      </p:sp>
      <p:sp>
        <p:nvSpPr>
          <p:cNvPr id="27" name="Text 25"/>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INTRODUCTION TO TECHNOLOGY</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82880" y="804672"/>
            <a:ext cx="2834640" cy="17830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5" name="Shape 3"/>
          <p:cNvSpPr/>
          <p:nvPr/>
        </p:nvSpPr>
        <p:spPr>
          <a:xfrm>
            <a:off x="182880" y="804672"/>
            <a:ext cx="2834640" cy="64008"/>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6" name="Text 4"/>
          <p:cNvSpPr/>
          <p:nvPr/>
        </p:nvSpPr>
        <p:spPr>
          <a:xfrm>
            <a:off x="292608" y="969264"/>
            <a:ext cx="2615184" cy="411480"/>
          </a:xfrm>
          <a:prstGeom prst="rect">
            <a:avLst/>
          </a:prstGeom>
          <a:noFill/>
          <a:ln/>
        </p:spPr>
        <p:txBody>
          <a:bodyPr wrap="square" rtlCol="0" anchor="ctr"/>
          <a:lstStyle/>
          <a:p>
            <a:pPr marL="0" indent="0">
              <a:buNone/>
            </a:pPr>
            <a:r>
              <a:rPr lang="en-US" sz="2400" b="1" dirty="0">
                <a:solidFill>
                  <a:srgbClr val="2E86C1"/>
                </a:solidFill>
                <a:latin typeface="Times New Roman" panose="02020603050405020304" pitchFamily="18" charset="0"/>
                <a:cs typeface="Times New Roman" panose="02020603050405020304" pitchFamily="18" charset="0"/>
              </a:rPr>
              <a:t>Python 3.14</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292608" y="1463040"/>
            <a:ext cx="2615184" cy="1005840"/>
          </a:xfrm>
          <a:prstGeom prst="rect">
            <a:avLst/>
          </a:prstGeom>
          <a:noFill/>
          <a:ln/>
        </p:spPr>
        <p:txBody>
          <a:bodyPr wrap="square" rtlCol="0" anchor="ctr"/>
          <a:lstStyle/>
          <a:p>
            <a:r>
              <a:rPr lang="en-IN" sz="2000" dirty="0"/>
              <a:t>Used to develop the core chatbot logic and backend.</a:t>
            </a:r>
            <a:endParaRPr lang="en-US" sz="2000" dirty="0">
              <a:latin typeface="Times New Roman" panose="02020603050405020304" pitchFamily="18" charset="0"/>
              <a:cs typeface="Times New Roman" panose="02020603050405020304" pitchFamily="18" charset="0"/>
            </a:endParaRPr>
          </a:p>
        </p:txBody>
      </p:sp>
      <p:sp>
        <p:nvSpPr>
          <p:cNvPr id="8" name="Shape 6"/>
          <p:cNvSpPr/>
          <p:nvPr/>
        </p:nvSpPr>
        <p:spPr>
          <a:xfrm>
            <a:off x="3154680" y="804672"/>
            <a:ext cx="2834640" cy="17830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9" name="Shape 7"/>
          <p:cNvSpPr/>
          <p:nvPr/>
        </p:nvSpPr>
        <p:spPr>
          <a:xfrm>
            <a:off x="3154680" y="804672"/>
            <a:ext cx="2834640" cy="64008"/>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8"/>
          <p:cNvSpPr/>
          <p:nvPr/>
        </p:nvSpPr>
        <p:spPr>
          <a:xfrm>
            <a:off x="3264408" y="969264"/>
            <a:ext cx="2615184" cy="411480"/>
          </a:xfrm>
          <a:prstGeom prst="rect">
            <a:avLst/>
          </a:prstGeom>
          <a:noFill/>
          <a:ln/>
        </p:spPr>
        <p:txBody>
          <a:bodyPr wrap="square" rtlCol="0" anchor="ctr"/>
          <a:lstStyle/>
          <a:p>
            <a:pPr marL="0" indent="0">
              <a:buNone/>
            </a:pPr>
            <a:r>
              <a:rPr lang="en-US" sz="2400" b="1" dirty="0">
                <a:solidFill>
                  <a:srgbClr val="1E8449"/>
                </a:solidFill>
                <a:latin typeface="Times New Roman" panose="02020603050405020304" pitchFamily="18" charset="0"/>
                <a:cs typeface="Times New Roman" panose="02020603050405020304" pitchFamily="18" charset="0"/>
              </a:rPr>
              <a:t>Groq API</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3264408" y="1463040"/>
            <a:ext cx="2615184" cy="100584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Used to generate natural language responses.</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6126480" y="804672"/>
            <a:ext cx="2834640" cy="17830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3" name="Shape 11"/>
          <p:cNvSpPr/>
          <p:nvPr/>
        </p:nvSpPr>
        <p:spPr>
          <a:xfrm>
            <a:off x="6126480" y="804672"/>
            <a:ext cx="2834640" cy="64008"/>
          </a:xfrm>
          <a:prstGeom prst="rect">
            <a:avLst/>
          </a:prstGeom>
          <a:solidFill>
            <a:srgbClr val="8E44AD"/>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2"/>
          <p:cNvSpPr/>
          <p:nvPr/>
        </p:nvSpPr>
        <p:spPr>
          <a:xfrm>
            <a:off x="6236208" y="969264"/>
            <a:ext cx="2615184" cy="411480"/>
          </a:xfrm>
          <a:prstGeom prst="rect">
            <a:avLst/>
          </a:prstGeom>
          <a:noFill/>
          <a:ln/>
        </p:spPr>
        <p:txBody>
          <a:bodyPr wrap="square" rtlCol="0" anchor="ctr"/>
          <a:lstStyle/>
          <a:p>
            <a:pPr marL="0" indent="0">
              <a:buNone/>
            </a:pPr>
            <a:r>
              <a:rPr lang="en-US" sz="2400" b="1" dirty="0">
                <a:solidFill>
                  <a:srgbClr val="8E44AD"/>
                </a:solidFill>
                <a:latin typeface="Times New Roman" panose="02020603050405020304" pitchFamily="18" charset="0"/>
                <a:cs typeface="Times New Roman" panose="02020603050405020304" pitchFamily="18" charset="0"/>
              </a:rPr>
              <a:t>Flask</a:t>
            </a:r>
            <a:endParaRPr lang="en-US" sz="2400" dirty="0">
              <a:latin typeface="Times New Roman" panose="02020603050405020304" pitchFamily="18" charset="0"/>
              <a:cs typeface="Times New Roman" panose="02020603050405020304" pitchFamily="18" charset="0"/>
            </a:endParaRPr>
          </a:p>
        </p:txBody>
      </p:sp>
      <p:sp>
        <p:nvSpPr>
          <p:cNvPr id="15" name="Text 13"/>
          <p:cNvSpPr/>
          <p:nvPr/>
        </p:nvSpPr>
        <p:spPr>
          <a:xfrm>
            <a:off x="6236208" y="1463040"/>
            <a:ext cx="2615184" cy="100584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Connects the chatbot logic with the web-based chat interface.</a:t>
            </a:r>
            <a:endParaRPr lang="en-US" sz="2000" dirty="0">
              <a:latin typeface="Times New Roman" panose="02020603050405020304" pitchFamily="18" charset="0"/>
              <a:cs typeface="Times New Roman" panose="02020603050405020304" pitchFamily="18" charset="0"/>
            </a:endParaRPr>
          </a:p>
        </p:txBody>
      </p:sp>
      <p:sp>
        <p:nvSpPr>
          <p:cNvPr id="16" name="Shape 14"/>
          <p:cNvSpPr/>
          <p:nvPr/>
        </p:nvSpPr>
        <p:spPr>
          <a:xfrm>
            <a:off x="1559497" y="2788920"/>
            <a:ext cx="2834640" cy="17830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7" name="Shape 15"/>
          <p:cNvSpPr/>
          <p:nvPr/>
        </p:nvSpPr>
        <p:spPr>
          <a:xfrm>
            <a:off x="1559497" y="2788920"/>
            <a:ext cx="2834640" cy="64008"/>
          </a:xfrm>
          <a:prstGeom prst="rect">
            <a:avLst/>
          </a:prstGeom>
          <a:solidFill>
            <a:srgbClr val="E67E2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8" name="Text 16"/>
          <p:cNvSpPr/>
          <p:nvPr/>
        </p:nvSpPr>
        <p:spPr>
          <a:xfrm>
            <a:off x="1669225" y="2953512"/>
            <a:ext cx="2615184" cy="411480"/>
          </a:xfrm>
          <a:prstGeom prst="rect">
            <a:avLst/>
          </a:prstGeom>
          <a:noFill/>
          <a:ln/>
        </p:spPr>
        <p:txBody>
          <a:bodyPr wrap="square" rtlCol="0" anchor="ctr"/>
          <a:lstStyle/>
          <a:p>
            <a:pPr marL="0" indent="0">
              <a:buNone/>
            </a:pPr>
            <a:r>
              <a:rPr lang="en-US" sz="2400" b="1" dirty="0">
                <a:solidFill>
                  <a:srgbClr val="E67E22"/>
                </a:solidFill>
                <a:latin typeface="Times New Roman" panose="02020603050405020304" pitchFamily="18" charset="0"/>
                <a:cs typeface="Times New Roman" panose="02020603050405020304" pitchFamily="18" charset="0"/>
              </a:rPr>
              <a:t>RAG</a:t>
            </a:r>
            <a:endParaRPr lang="en-US" sz="2400" dirty="0">
              <a:latin typeface="Times New Roman" panose="02020603050405020304" pitchFamily="18" charset="0"/>
              <a:cs typeface="Times New Roman" panose="02020603050405020304" pitchFamily="18" charset="0"/>
            </a:endParaRPr>
          </a:p>
        </p:txBody>
      </p:sp>
      <p:sp>
        <p:nvSpPr>
          <p:cNvPr id="19" name="Text 17"/>
          <p:cNvSpPr/>
          <p:nvPr/>
        </p:nvSpPr>
        <p:spPr>
          <a:xfrm>
            <a:off x="1669225" y="3447288"/>
            <a:ext cx="2615184" cy="100584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Retrieves relevant information from the knowledge base before generating an answer.</a:t>
            </a:r>
            <a:endParaRPr lang="en-US" sz="2000" dirty="0">
              <a:latin typeface="Times New Roman" panose="02020603050405020304" pitchFamily="18" charset="0"/>
              <a:cs typeface="Times New Roman" panose="02020603050405020304" pitchFamily="18" charset="0"/>
            </a:endParaRPr>
          </a:p>
        </p:txBody>
      </p:sp>
      <p:sp>
        <p:nvSpPr>
          <p:cNvPr id="20" name="Shape 18"/>
          <p:cNvSpPr/>
          <p:nvPr/>
        </p:nvSpPr>
        <p:spPr>
          <a:xfrm>
            <a:off x="4812660" y="2788920"/>
            <a:ext cx="2834640" cy="178308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21" name="Shape 19"/>
          <p:cNvSpPr/>
          <p:nvPr/>
        </p:nvSpPr>
        <p:spPr>
          <a:xfrm>
            <a:off x="4812660" y="2788920"/>
            <a:ext cx="2834640" cy="64008"/>
          </a:xfrm>
          <a:prstGeom prst="rect">
            <a:avLst/>
          </a:prstGeom>
          <a:solidFill>
            <a:srgbClr val="C0392B"/>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2" name="Text 20"/>
          <p:cNvSpPr/>
          <p:nvPr/>
        </p:nvSpPr>
        <p:spPr>
          <a:xfrm>
            <a:off x="4922388" y="2953512"/>
            <a:ext cx="2615184" cy="411480"/>
          </a:xfrm>
          <a:prstGeom prst="rect">
            <a:avLst/>
          </a:prstGeom>
          <a:noFill/>
          <a:ln/>
        </p:spPr>
        <p:txBody>
          <a:bodyPr wrap="square" rtlCol="0" anchor="ctr"/>
          <a:lstStyle/>
          <a:p>
            <a:pPr marL="0" indent="0">
              <a:buNone/>
            </a:pPr>
            <a:r>
              <a:rPr lang="en-US" sz="2400" b="1" dirty="0">
                <a:solidFill>
                  <a:srgbClr val="C0392B"/>
                </a:solidFill>
                <a:latin typeface="Times New Roman" panose="02020603050405020304" pitchFamily="18" charset="0"/>
                <a:cs typeface="Times New Roman" panose="02020603050405020304" pitchFamily="18" charset="0"/>
              </a:rPr>
              <a:t>HTML/CSS/JS</a:t>
            </a:r>
            <a:endParaRPr lang="en-US" sz="2400" dirty="0">
              <a:latin typeface="Times New Roman" panose="02020603050405020304" pitchFamily="18" charset="0"/>
              <a:cs typeface="Times New Roman" panose="02020603050405020304" pitchFamily="18" charset="0"/>
            </a:endParaRPr>
          </a:p>
        </p:txBody>
      </p:sp>
      <p:sp>
        <p:nvSpPr>
          <p:cNvPr id="23" name="Text 21"/>
          <p:cNvSpPr/>
          <p:nvPr/>
        </p:nvSpPr>
        <p:spPr>
          <a:xfrm>
            <a:off x="4922388" y="3447288"/>
            <a:ext cx="2615184" cy="1005840"/>
          </a:xfrm>
          <a:prstGeom prst="rect">
            <a:avLst/>
          </a:prstGeom>
          <a:noFill/>
          <a:ln/>
        </p:spPr>
        <p:txBody>
          <a:bodyPr wrap="square" rtlCol="0" anchor="ctr"/>
          <a:lstStyle/>
          <a:p>
            <a:r>
              <a:rPr lang="en-IN" sz="2000" dirty="0">
                <a:solidFill>
                  <a:srgbClr val="0D1B2A"/>
                </a:solidFill>
                <a:latin typeface="Times New Roman" panose="02020603050405020304" pitchFamily="18" charset="0"/>
                <a:cs typeface="Times New Roman" panose="02020603050405020304" pitchFamily="18" charset="0"/>
              </a:rPr>
              <a:t>Used to create the user-friendly chatbot interface.</a:t>
            </a:r>
            <a:endParaRPr lang="en-US" sz="2000" dirty="0">
              <a:latin typeface="Times New Roman" panose="02020603050405020304" pitchFamily="18" charset="0"/>
              <a:cs typeface="Times New Roman" panose="02020603050405020304" pitchFamily="18" charset="0"/>
            </a:endParaRPr>
          </a:p>
        </p:txBody>
      </p:sp>
      <p:sp>
        <p:nvSpPr>
          <p:cNvPr id="28" name="Text 26"/>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92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274320" y="804672"/>
            <a:ext cx="8595360" cy="118872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457200" y="868680"/>
            <a:ext cx="8229600" cy="1051560"/>
          </a:xfrm>
          <a:prstGeom prst="rect">
            <a:avLst/>
          </a:prstGeom>
          <a:noFill/>
          <a:ln/>
        </p:spPr>
        <p:txBody>
          <a:bodyPr wrap="square" rtlCol="0" anchor="ctr"/>
          <a:lstStyle/>
          <a:p>
            <a:r>
              <a:rPr lang="en-IN" i="1" dirty="0">
                <a:solidFill>
                  <a:srgbClr val="FFFFFF"/>
                </a:solidFill>
                <a:latin typeface="Times New Roman" panose="02020603050405020304" pitchFamily="18" charset="0"/>
                <a:cs typeface="Times New Roman" panose="02020603050405020304" pitchFamily="18" charset="0"/>
              </a:rPr>
              <a:t>Shopfloor workers and new joiners often need quick and personalised training support. However, current training is mostly scheduled and general, making it difficult to meet individual learning needs at the right time.</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274320" y="2148840"/>
            <a:ext cx="2286000" cy="548640"/>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320040" y="2148840"/>
            <a:ext cx="2240280" cy="54864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cs typeface="Times New Roman" panose="02020603050405020304" pitchFamily="18" charset="0"/>
              </a:rPr>
              <a:t>WHO IS AFFECTED?</a:t>
            </a:r>
            <a:endParaRPr lang="en-US" sz="1600" b="1" dirty="0">
              <a:latin typeface="Times New Roman" panose="02020603050405020304" pitchFamily="18" charset="0"/>
              <a:cs typeface="Times New Roman" panose="02020603050405020304" pitchFamily="18" charset="0"/>
            </a:endParaRPr>
          </a:p>
        </p:txBody>
      </p:sp>
      <p:sp>
        <p:nvSpPr>
          <p:cNvPr id="8" name="Shape 6"/>
          <p:cNvSpPr/>
          <p:nvPr/>
        </p:nvSpPr>
        <p:spPr>
          <a:xfrm>
            <a:off x="2651760" y="2148840"/>
            <a:ext cx="6400800" cy="54864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9" name="Text 7"/>
          <p:cNvSpPr/>
          <p:nvPr/>
        </p:nvSpPr>
        <p:spPr>
          <a:xfrm>
            <a:off x="2651760" y="2148840"/>
            <a:ext cx="6400800" cy="548640"/>
          </a:xfrm>
          <a:prstGeom prst="rect">
            <a:avLst/>
          </a:prstGeom>
          <a:noFill/>
          <a:ln/>
        </p:spPr>
        <p:txBody>
          <a:bodyPr wrap="square" rtlCol="0" anchor="ctr"/>
          <a:lstStyle/>
          <a:p>
            <a:r>
              <a:rPr lang="en-US" sz="1600" dirty="0">
                <a:solidFill>
                  <a:srgbClr val="FFFFFF"/>
                </a:solidFill>
                <a:latin typeface="Times New Roman" panose="02020603050405020304" pitchFamily="18" charset="0"/>
                <a:cs typeface="Times New Roman" panose="02020603050405020304" pitchFamily="18" charset="0"/>
              </a:rPr>
              <a:t>Shopfloor operators, New joiners and Maintenance technicians</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274320" y="2807208"/>
            <a:ext cx="2286000" cy="548640"/>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1" name="Text 9"/>
          <p:cNvSpPr/>
          <p:nvPr/>
        </p:nvSpPr>
        <p:spPr>
          <a:xfrm>
            <a:off x="320040" y="2807208"/>
            <a:ext cx="2194560" cy="54864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cs typeface="Times New Roman" panose="02020603050405020304" pitchFamily="18" charset="0"/>
              </a:rPr>
              <a:t>CURRENT GAP</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2651760" y="2807208"/>
            <a:ext cx="6400800" cy="54864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1"/>
          <p:cNvSpPr/>
          <p:nvPr/>
        </p:nvSpPr>
        <p:spPr>
          <a:xfrm>
            <a:off x="2651760" y="2807208"/>
            <a:ext cx="6309360" cy="548640"/>
          </a:xfrm>
          <a:prstGeom prst="rect">
            <a:avLst/>
          </a:prstGeom>
          <a:noFill/>
          <a:ln/>
        </p:spPr>
        <p:txBody>
          <a:bodyPr wrap="square" rtlCol="0" anchor="ctr"/>
          <a:lstStyle/>
          <a:p>
            <a:r>
              <a:rPr lang="en-IN" sz="1600" dirty="0">
                <a:solidFill>
                  <a:srgbClr val="FFFFFF"/>
                </a:solidFill>
                <a:latin typeface="Times New Roman" panose="02020603050405020304" pitchFamily="18" charset="0"/>
                <a:cs typeface="Times New Roman" panose="02020603050405020304" pitchFamily="18" charset="0"/>
              </a:rPr>
              <a:t>Training is mostly scheduled, Information is not always available on demand, Employees may depend on supervisors for quick guidance</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274320" y="3465576"/>
            <a:ext cx="2286000" cy="548640"/>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5" name="Text 13"/>
          <p:cNvSpPr/>
          <p:nvPr/>
        </p:nvSpPr>
        <p:spPr>
          <a:xfrm>
            <a:off x="320040" y="3465576"/>
            <a:ext cx="2194560" cy="54864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cs typeface="Times New Roman" panose="02020603050405020304" pitchFamily="18" charset="0"/>
              </a:rPr>
              <a:t>BUSINESS IMPACT</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2651760" y="3465576"/>
            <a:ext cx="6400800" cy="54864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5"/>
          <p:cNvSpPr/>
          <p:nvPr/>
        </p:nvSpPr>
        <p:spPr>
          <a:xfrm>
            <a:off x="2651760" y="3465576"/>
            <a:ext cx="6309360" cy="548640"/>
          </a:xfrm>
          <a:prstGeom prst="rect">
            <a:avLst/>
          </a:prstGeom>
          <a:noFill/>
          <a:ln/>
        </p:spPr>
        <p:txBody>
          <a:bodyPr wrap="square" rtlCol="0" anchor="ctr"/>
          <a:lstStyle/>
          <a:p>
            <a:r>
              <a:rPr lang="en-IN" sz="1600" dirty="0">
                <a:solidFill>
                  <a:srgbClr val="FFFFFF"/>
                </a:solidFill>
                <a:latin typeface="Times New Roman" panose="02020603050405020304" pitchFamily="18" charset="0"/>
                <a:cs typeface="Times New Roman" panose="02020603050405020304" pitchFamily="18" charset="0"/>
              </a:rPr>
              <a:t>Time lost in finding information, Higher dependency on experienced employees, Possible impact on productivity and safety</a:t>
            </a:r>
            <a:endParaRPr lang="en-US" sz="1600" dirty="0">
              <a:latin typeface="Times New Roman" panose="02020603050405020304" pitchFamily="18" charset="0"/>
              <a:cs typeface="Times New Roman" panose="02020603050405020304" pitchFamily="18" charset="0"/>
            </a:endParaRPr>
          </a:p>
        </p:txBody>
      </p:sp>
      <p:sp>
        <p:nvSpPr>
          <p:cNvPr id="18" name="Shape 16"/>
          <p:cNvSpPr/>
          <p:nvPr/>
        </p:nvSpPr>
        <p:spPr>
          <a:xfrm>
            <a:off x="274320" y="4123944"/>
            <a:ext cx="2286000" cy="548640"/>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9" name="Text 17"/>
          <p:cNvSpPr/>
          <p:nvPr/>
        </p:nvSpPr>
        <p:spPr>
          <a:xfrm>
            <a:off x="320040" y="4123944"/>
            <a:ext cx="2194560" cy="54864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cs typeface="Times New Roman" panose="02020603050405020304" pitchFamily="18" charset="0"/>
              </a:rPr>
              <a:t>SECONDARY ISSUE</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2651760" y="4123944"/>
            <a:ext cx="6400800" cy="54864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1" name="Text 19"/>
          <p:cNvSpPr/>
          <p:nvPr/>
        </p:nvSpPr>
        <p:spPr>
          <a:xfrm>
            <a:off x="2651760" y="4069080"/>
            <a:ext cx="6309360" cy="603504"/>
          </a:xfrm>
          <a:prstGeom prst="rect">
            <a:avLst/>
          </a:prstGeom>
          <a:noFill/>
          <a:ln/>
        </p:spPr>
        <p:txBody>
          <a:bodyPr wrap="square" rtlCol="0" anchor="ctr"/>
          <a:lstStyle/>
          <a:p>
            <a:r>
              <a:rPr lang="en-IN" sz="1600" dirty="0">
                <a:solidFill>
                  <a:srgbClr val="FFFFFF"/>
                </a:solidFill>
                <a:latin typeface="Times New Roman" panose="02020603050405020304" pitchFamily="18" charset="0"/>
                <a:cs typeface="Times New Roman" panose="02020603050405020304" pitchFamily="18" charset="0"/>
              </a:rPr>
              <a:t>Experienced employees may retire</a:t>
            </a:r>
          </a:p>
          <a:p>
            <a:r>
              <a:rPr lang="en-IN" sz="1600" dirty="0">
                <a:solidFill>
                  <a:srgbClr val="FFFFFF"/>
                </a:solidFill>
                <a:latin typeface="Times New Roman" panose="02020603050405020304" pitchFamily="18" charset="0"/>
                <a:cs typeface="Times New Roman" panose="02020603050405020304" pitchFamily="18" charset="0"/>
              </a:rPr>
              <a:t>Valuable knowledge can be difficult to preserve and share</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REQUIREMENT ANALYSIS — USER PERSONAS</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82880" y="777240"/>
            <a:ext cx="2834640" cy="4160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5" name="Shape 3"/>
          <p:cNvSpPr/>
          <p:nvPr/>
        </p:nvSpPr>
        <p:spPr>
          <a:xfrm>
            <a:off x="182880" y="777240"/>
            <a:ext cx="2834640" cy="54864"/>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6" name="Shape 4"/>
          <p:cNvSpPr/>
          <p:nvPr/>
        </p:nvSpPr>
        <p:spPr>
          <a:xfrm>
            <a:off x="1234440" y="886968"/>
            <a:ext cx="731520" cy="731520"/>
          </a:xfrm>
          <a:prstGeom prst="ellipse">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1234440" y="886968"/>
            <a:ext cx="731520" cy="731520"/>
          </a:xfrm>
          <a:prstGeom prst="rect">
            <a:avLst/>
          </a:prstGeom>
          <a:noFill/>
          <a:ln/>
        </p:spPr>
        <p:txBody>
          <a:bodyPr wrap="square" rtlCol="0" anchor="ctr"/>
          <a:lstStyle/>
          <a:p>
            <a:pPr algn="ctr"/>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274320" y="1682496"/>
            <a:ext cx="2651760" cy="320040"/>
          </a:xfrm>
          <a:prstGeom prst="rect">
            <a:avLst/>
          </a:prstGeom>
          <a:noFill/>
          <a:ln/>
        </p:spPr>
        <p:txBody>
          <a:bodyPr wrap="square" rtlCol="0" anchor="ctr"/>
          <a:lstStyle/>
          <a:p>
            <a:pPr marL="0" indent="0" algn="ctr">
              <a:buNone/>
            </a:pPr>
            <a:r>
              <a:rPr lang="en-US" sz="2000" b="1" dirty="0">
                <a:solidFill>
                  <a:srgbClr val="0D1B2A"/>
                </a:solidFill>
                <a:latin typeface="Times New Roman" panose="02020603050405020304" pitchFamily="18" charset="0"/>
                <a:cs typeface="Times New Roman" panose="02020603050405020304" pitchFamily="18" charset="0"/>
              </a:rPr>
              <a:t>Ramesh, 22</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280851" y="2188029"/>
            <a:ext cx="2651760" cy="274320"/>
          </a:xfrm>
          <a:prstGeom prst="rect">
            <a:avLst/>
          </a:prstGeom>
          <a:noFill/>
          <a:ln/>
        </p:spPr>
        <p:txBody>
          <a:bodyPr wrap="square" rtlCol="0" anchor="ctr"/>
          <a:lstStyle/>
          <a:p>
            <a:pPr marL="0" indent="0" algn="ctr">
              <a:buNone/>
            </a:pPr>
            <a:r>
              <a:rPr lang="en-US" sz="2000" b="1" dirty="0">
                <a:solidFill>
                  <a:srgbClr val="2E86C1"/>
                </a:solidFill>
                <a:latin typeface="Times New Roman" panose="02020603050405020304" pitchFamily="18" charset="0"/>
                <a:cs typeface="Times New Roman" panose="02020603050405020304" pitchFamily="18" charset="0"/>
              </a:rPr>
              <a:t>New Shopfloor Operator</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317427" y="2696827"/>
            <a:ext cx="2578608" cy="256032"/>
          </a:xfrm>
          <a:prstGeom prst="rect">
            <a:avLst/>
          </a:prstGeom>
          <a:noFill/>
          <a:ln/>
        </p:spPr>
        <p:txBody>
          <a:bodyPr wrap="square" rtlCol="0" anchor="ctr"/>
          <a:lstStyle/>
          <a:p>
            <a:pPr marL="0" indent="0">
              <a:buNone/>
            </a:pPr>
            <a:r>
              <a:rPr lang="en-US" sz="2000" b="1" dirty="0">
                <a:solidFill>
                  <a:srgbClr val="C0392B"/>
                </a:solidFill>
                <a:latin typeface="Times New Roman" panose="02020603050405020304" pitchFamily="18" charset="0"/>
                <a:cs typeface="Times New Roman" panose="02020603050405020304" pitchFamily="18" charset="0"/>
              </a:rPr>
              <a:t>Problem:</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310896" y="3096550"/>
            <a:ext cx="2578608" cy="685800"/>
          </a:xfrm>
          <a:prstGeom prst="rect">
            <a:avLst/>
          </a:prstGeom>
          <a:noFill/>
          <a:ln/>
        </p:spPr>
        <p:txBody>
          <a:bodyPr wrap="square" rtlCol="0" anchor="ctr"/>
          <a:lstStyle/>
          <a:p>
            <a:r>
              <a:rPr lang="en-US" dirty="0">
                <a:solidFill>
                  <a:srgbClr val="0D1B2A"/>
                </a:solidFill>
                <a:latin typeface="Times New Roman" panose="02020603050405020304" pitchFamily="18" charset="0"/>
                <a:cs typeface="Times New Roman" panose="02020603050405020304" pitchFamily="18" charset="0"/>
              </a:rPr>
              <a:t>· 200-page manual </a:t>
            </a:r>
          </a:p>
          <a:p>
            <a:r>
              <a:rPr lang="en-US" dirty="0">
                <a:solidFill>
                  <a:srgbClr val="0D1B2A"/>
                </a:solidFill>
                <a:latin typeface="Times New Roman" panose="02020603050405020304" pitchFamily="18" charset="0"/>
                <a:cs typeface="Times New Roman" panose="02020603050405020304" pitchFamily="18" charset="0"/>
              </a:rPr>
              <a:t>· </a:t>
            </a:r>
            <a:r>
              <a:rPr lang="en-IN" dirty="0"/>
              <a:t>Guidance for daily tasks</a:t>
            </a:r>
            <a:r>
              <a:rPr lang="en-US" dirty="0">
                <a:solidFill>
                  <a:srgbClr val="0D1B2A"/>
                </a:solidFill>
                <a:latin typeface="Times New Roman" panose="02020603050405020304" pitchFamily="18" charset="0"/>
                <a:cs typeface="Times New Roman" panose="02020603050405020304" pitchFamily="18" charset="0"/>
              </a:rPr>
              <a:t> · Supervisor unavailable</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317427" y="3885328"/>
            <a:ext cx="2578608" cy="256032"/>
          </a:xfrm>
          <a:prstGeom prst="rect">
            <a:avLst/>
          </a:prstGeom>
          <a:noFill/>
          <a:ln/>
        </p:spPr>
        <p:txBody>
          <a:bodyPr wrap="square" rtlCol="0" anchor="ctr"/>
          <a:lstStyle/>
          <a:p>
            <a:pPr marL="0" indent="0">
              <a:buNone/>
            </a:pPr>
            <a:r>
              <a:rPr lang="en-US" sz="2000" b="1" dirty="0">
                <a:solidFill>
                  <a:srgbClr val="1E8449"/>
                </a:solidFill>
                <a:latin typeface="Times New Roman" panose="02020603050405020304" pitchFamily="18" charset="0"/>
                <a:cs typeface="Times New Roman" panose="02020603050405020304" pitchFamily="18" charset="0"/>
              </a:rPr>
              <a:t>Goal:</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317427" y="4170970"/>
            <a:ext cx="2578608" cy="685800"/>
          </a:xfrm>
          <a:prstGeom prst="rect">
            <a:avLst/>
          </a:prstGeom>
          <a:noFill/>
          <a:ln/>
        </p:spPr>
        <p:txBody>
          <a:bodyPr wrap="square" rtlCol="0" anchor="ctr"/>
          <a:lstStyle/>
          <a:p>
            <a:r>
              <a:rPr lang="en-IN" dirty="0">
                <a:solidFill>
                  <a:srgbClr val="0D1B2A"/>
                </a:solidFill>
                <a:latin typeface="Times New Roman" panose="02020603050405020304" pitchFamily="18" charset="0"/>
                <a:cs typeface="Times New Roman" panose="02020603050405020304" pitchFamily="18" charset="0"/>
              </a:rPr>
              <a:t>Learn safety rules and job-related tasks quickly</a:t>
            </a:r>
            <a:endParaRPr lang="en-US" dirty="0">
              <a:latin typeface="Times New Roman" panose="02020603050405020304" pitchFamily="18" charset="0"/>
              <a:cs typeface="Times New Roman" panose="02020603050405020304" pitchFamily="18" charset="0"/>
            </a:endParaRPr>
          </a:p>
        </p:txBody>
      </p:sp>
      <p:sp>
        <p:nvSpPr>
          <p:cNvPr id="14" name="Shape 12"/>
          <p:cNvSpPr/>
          <p:nvPr/>
        </p:nvSpPr>
        <p:spPr>
          <a:xfrm>
            <a:off x="3172968" y="777240"/>
            <a:ext cx="2834640" cy="4160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5" name="Shape 13"/>
          <p:cNvSpPr/>
          <p:nvPr/>
        </p:nvSpPr>
        <p:spPr>
          <a:xfrm>
            <a:off x="3172968" y="777240"/>
            <a:ext cx="2834640" cy="54864"/>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6" name="Shape 14"/>
          <p:cNvSpPr/>
          <p:nvPr/>
        </p:nvSpPr>
        <p:spPr>
          <a:xfrm>
            <a:off x="4224528" y="886968"/>
            <a:ext cx="731520" cy="731520"/>
          </a:xfrm>
          <a:prstGeom prst="ellipse">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5"/>
          <p:cNvSpPr/>
          <p:nvPr/>
        </p:nvSpPr>
        <p:spPr>
          <a:xfrm>
            <a:off x="4224528" y="886968"/>
            <a:ext cx="731520" cy="731520"/>
          </a:xfrm>
          <a:prstGeom prst="rect">
            <a:avLst/>
          </a:prstGeom>
          <a:noFill/>
          <a:ln/>
        </p:spPr>
        <p:txBody>
          <a:bodyPr wrap="square" rtlCol="0" anchor="ctr"/>
          <a:lstStyle/>
          <a:p>
            <a:pPr algn="ctr"/>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8" name="Text 16"/>
          <p:cNvSpPr/>
          <p:nvPr/>
        </p:nvSpPr>
        <p:spPr>
          <a:xfrm>
            <a:off x="3264408" y="1682496"/>
            <a:ext cx="2651760" cy="320040"/>
          </a:xfrm>
          <a:prstGeom prst="rect">
            <a:avLst/>
          </a:prstGeom>
          <a:noFill/>
          <a:ln/>
        </p:spPr>
        <p:txBody>
          <a:bodyPr wrap="square" rtlCol="0" anchor="ctr"/>
          <a:lstStyle/>
          <a:p>
            <a:pPr marL="0" indent="0" algn="ctr">
              <a:buNone/>
            </a:pPr>
            <a:r>
              <a:rPr lang="en-US" sz="2000" b="1" dirty="0">
                <a:solidFill>
                  <a:srgbClr val="0D1B2A"/>
                </a:solidFill>
                <a:latin typeface="Times New Roman" panose="02020603050405020304" pitchFamily="18" charset="0"/>
                <a:cs typeface="Times New Roman" panose="02020603050405020304" pitchFamily="18" charset="0"/>
              </a:rPr>
              <a:t>Suresh, 31</a:t>
            </a:r>
            <a:endParaRPr lang="en-US" sz="2000" dirty="0">
              <a:latin typeface="Times New Roman" panose="02020603050405020304" pitchFamily="18" charset="0"/>
              <a:cs typeface="Times New Roman" panose="02020603050405020304" pitchFamily="18" charset="0"/>
            </a:endParaRPr>
          </a:p>
        </p:txBody>
      </p:sp>
      <p:sp>
        <p:nvSpPr>
          <p:cNvPr id="19" name="Text 17"/>
          <p:cNvSpPr/>
          <p:nvPr/>
        </p:nvSpPr>
        <p:spPr>
          <a:xfrm>
            <a:off x="3264408" y="2186396"/>
            <a:ext cx="2651760" cy="274320"/>
          </a:xfrm>
          <a:prstGeom prst="rect">
            <a:avLst/>
          </a:prstGeom>
          <a:noFill/>
          <a:ln/>
        </p:spPr>
        <p:txBody>
          <a:bodyPr wrap="square" rtlCol="0" anchor="ctr"/>
          <a:lstStyle/>
          <a:p>
            <a:pPr marL="0" indent="0" algn="ctr">
              <a:buNone/>
            </a:pPr>
            <a:r>
              <a:rPr lang="en-US" sz="2000" b="1" dirty="0">
                <a:solidFill>
                  <a:srgbClr val="1E8449"/>
                </a:solidFill>
                <a:latin typeface="Times New Roman" panose="02020603050405020304" pitchFamily="18" charset="0"/>
                <a:cs typeface="Times New Roman" panose="02020603050405020304" pitchFamily="18" charset="0"/>
              </a:rPr>
              <a:t>Maintenance Technician</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3172968" y="2630534"/>
            <a:ext cx="2578608" cy="256032"/>
          </a:xfrm>
          <a:prstGeom prst="rect">
            <a:avLst/>
          </a:prstGeom>
          <a:noFill/>
          <a:ln/>
        </p:spPr>
        <p:txBody>
          <a:bodyPr wrap="square" rtlCol="0" anchor="ctr"/>
          <a:lstStyle/>
          <a:p>
            <a:pPr marL="0" indent="0">
              <a:buNone/>
            </a:pPr>
            <a:r>
              <a:rPr lang="en-US" sz="2000" b="1" dirty="0">
                <a:solidFill>
                  <a:srgbClr val="C0392B"/>
                </a:solidFill>
                <a:latin typeface="Times New Roman" panose="02020603050405020304" pitchFamily="18" charset="0"/>
                <a:cs typeface="Times New Roman" panose="02020603050405020304" pitchFamily="18" charset="0"/>
              </a:rPr>
              <a:t>Problem:</a:t>
            </a:r>
            <a:endParaRPr lang="en-US" sz="2000" dirty="0">
              <a:latin typeface="Times New Roman" panose="02020603050405020304" pitchFamily="18" charset="0"/>
              <a:cs typeface="Times New Roman" panose="02020603050405020304" pitchFamily="18" charset="0"/>
            </a:endParaRPr>
          </a:p>
        </p:txBody>
      </p:sp>
      <p:sp>
        <p:nvSpPr>
          <p:cNvPr id="21" name="Text 19"/>
          <p:cNvSpPr/>
          <p:nvPr/>
        </p:nvSpPr>
        <p:spPr>
          <a:xfrm>
            <a:off x="3139875" y="3077610"/>
            <a:ext cx="2986607" cy="685800"/>
          </a:xfrm>
          <a:prstGeom prst="rect">
            <a:avLst/>
          </a:prstGeom>
          <a:noFill/>
          <a:ln/>
        </p:spPr>
        <p:txBody>
          <a:bodyPr wrap="square" rtlCol="0" anchor="ctr"/>
          <a:lstStyle/>
          <a:p>
            <a:r>
              <a:rPr lang="en-IN" dirty="0"/>
              <a:t>Quick access to trouble-shooting information</a:t>
            </a:r>
          </a:p>
          <a:p>
            <a:r>
              <a:rPr lang="en-IN" dirty="0"/>
              <a:t>Faster support during  issues</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3172968" y="3878911"/>
            <a:ext cx="2578608" cy="256032"/>
          </a:xfrm>
          <a:prstGeom prst="rect">
            <a:avLst/>
          </a:prstGeom>
          <a:noFill/>
          <a:ln/>
        </p:spPr>
        <p:txBody>
          <a:bodyPr wrap="square" rtlCol="0" anchor="ctr"/>
          <a:lstStyle/>
          <a:p>
            <a:pPr marL="0" indent="0">
              <a:buNone/>
            </a:pPr>
            <a:r>
              <a:rPr lang="en-US" sz="2000" b="1" dirty="0">
                <a:solidFill>
                  <a:srgbClr val="1E8449"/>
                </a:solidFill>
                <a:latin typeface="Times New Roman" panose="02020603050405020304" pitchFamily="18" charset="0"/>
                <a:cs typeface="Times New Roman" panose="02020603050405020304" pitchFamily="18" charset="0"/>
              </a:rPr>
              <a:t>Goal:</a:t>
            </a:r>
            <a:endParaRPr lang="en-US" sz="2000" dirty="0">
              <a:latin typeface="Times New Roman" panose="02020603050405020304" pitchFamily="18" charset="0"/>
              <a:cs typeface="Times New Roman" panose="02020603050405020304" pitchFamily="18" charset="0"/>
            </a:endParaRPr>
          </a:p>
        </p:txBody>
      </p:sp>
      <p:sp>
        <p:nvSpPr>
          <p:cNvPr id="23" name="Text 21"/>
          <p:cNvSpPr/>
          <p:nvPr/>
        </p:nvSpPr>
        <p:spPr>
          <a:xfrm>
            <a:off x="3172968" y="4144192"/>
            <a:ext cx="3184725" cy="685800"/>
          </a:xfrm>
          <a:prstGeom prst="rect">
            <a:avLst/>
          </a:prstGeom>
          <a:noFill/>
          <a:ln/>
        </p:spPr>
        <p:txBody>
          <a:bodyPr wrap="square" rtlCol="0" anchor="ctr"/>
          <a:lstStyle/>
          <a:p>
            <a:r>
              <a:rPr lang="en-IN" dirty="0">
                <a:solidFill>
                  <a:srgbClr val="0D1B2A"/>
                </a:solidFill>
                <a:latin typeface="Times New Roman" panose="02020603050405020304" pitchFamily="18" charset="0"/>
                <a:cs typeface="Times New Roman" panose="02020603050405020304" pitchFamily="18" charset="0"/>
              </a:rPr>
              <a:t>Find technical information quickly and reduce downtime</a:t>
            </a:r>
            <a:endParaRPr lang="en-US" dirty="0">
              <a:latin typeface="Times New Roman" panose="02020603050405020304" pitchFamily="18" charset="0"/>
              <a:cs typeface="Times New Roman" panose="02020603050405020304" pitchFamily="18" charset="0"/>
            </a:endParaRPr>
          </a:p>
        </p:txBody>
      </p:sp>
      <p:sp>
        <p:nvSpPr>
          <p:cNvPr id="24" name="Shape 22"/>
          <p:cNvSpPr/>
          <p:nvPr/>
        </p:nvSpPr>
        <p:spPr>
          <a:xfrm>
            <a:off x="6163056" y="777240"/>
            <a:ext cx="2834640" cy="41605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25" name="Shape 23"/>
          <p:cNvSpPr/>
          <p:nvPr/>
        </p:nvSpPr>
        <p:spPr>
          <a:xfrm>
            <a:off x="6163056" y="777240"/>
            <a:ext cx="2834640" cy="54864"/>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6" name="Shape 24"/>
          <p:cNvSpPr/>
          <p:nvPr/>
        </p:nvSpPr>
        <p:spPr>
          <a:xfrm>
            <a:off x="7214616" y="886968"/>
            <a:ext cx="731520" cy="731520"/>
          </a:xfrm>
          <a:prstGeom prst="ellipse">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7" name="Text 25"/>
          <p:cNvSpPr/>
          <p:nvPr/>
        </p:nvSpPr>
        <p:spPr>
          <a:xfrm>
            <a:off x="7214616" y="886968"/>
            <a:ext cx="731520" cy="731520"/>
          </a:xfrm>
          <a:prstGeom prst="rect">
            <a:avLst/>
          </a:prstGeom>
          <a:noFill/>
          <a:ln/>
        </p:spPr>
        <p:txBody>
          <a:bodyPr wrap="square" rtlCol="0" anchor="ctr"/>
          <a:lstStyle/>
          <a:p>
            <a:pPr algn="ctr"/>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28" name="Text 26"/>
          <p:cNvSpPr/>
          <p:nvPr/>
        </p:nvSpPr>
        <p:spPr>
          <a:xfrm>
            <a:off x="6254496" y="1682496"/>
            <a:ext cx="2651760" cy="320040"/>
          </a:xfrm>
          <a:prstGeom prst="rect">
            <a:avLst/>
          </a:prstGeom>
          <a:noFill/>
          <a:ln/>
        </p:spPr>
        <p:txBody>
          <a:bodyPr wrap="square" rtlCol="0" anchor="ctr"/>
          <a:lstStyle/>
          <a:p>
            <a:pPr marL="0" indent="0" algn="ctr">
              <a:buNone/>
            </a:pPr>
            <a:r>
              <a:rPr lang="en-US" sz="2000" b="1" dirty="0">
                <a:solidFill>
                  <a:srgbClr val="0D1B2A"/>
                </a:solidFill>
                <a:latin typeface="Times New Roman" panose="02020603050405020304" pitchFamily="18" charset="0"/>
                <a:cs typeface="Times New Roman" panose="02020603050405020304" pitchFamily="18" charset="0"/>
              </a:rPr>
              <a:t>Priya Sharma, 40</a:t>
            </a:r>
            <a:endParaRPr lang="en-US" sz="2000" dirty="0">
              <a:latin typeface="Times New Roman" panose="02020603050405020304" pitchFamily="18" charset="0"/>
              <a:cs typeface="Times New Roman" panose="02020603050405020304" pitchFamily="18" charset="0"/>
            </a:endParaRPr>
          </a:p>
        </p:txBody>
      </p:sp>
      <p:sp>
        <p:nvSpPr>
          <p:cNvPr id="29" name="Text 27"/>
          <p:cNvSpPr/>
          <p:nvPr/>
        </p:nvSpPr>
        <p:spPr>
          <a:xfrm>
            <a:off x="6254496" y="2097895"/>
            <a:ext cx="2651760" cy="274320"/>
          </a:xfrm>
          <a:prstGeom prst="rect">
            <a:avLst/>
          </a:prstGeom>
          <a:noFill/>
          <a:ln/>
        </p:spPr>
        <p:txBody>
          <a:bodyPr wrap="square" rtlCol="0" anchor="ctr"/>
          <a:lstStyle/>
          <a:p>
            <a:pPr marL="0" indent="0" algn="ctr">
              <a:buNone/>
            </a:pPr>
            <a:r>
              <a:rPr lang="en-US" sz="2000" b="1" dirty="0">
                <a:solidFill>
                  <a:srgbClr val="F39C12"/>
                </a:solidFill>
                <a:latin typeface="Times New Roman" panose="02020603050405020304" pitchFamily="18" charset="0"/>
                <a:cs typeface="Times New Roman" panose="02020603050405020304" pitchFamily="18" charset="0"/>
              </a:rPr>
              <a:t>L&amp;D Manager</a:t>
            </a:r>
            <a:endParaRPr lang="en-US" sz="2000" dirty="0">
              <a:latin typeface="Times New Roman" panose="02020603050405020304" pitchFamily="18" charset="0"/>
              <a:cs typeface="Times New Roman" panose="02020603050405020304" pitchFamily="18" charset="0"/>
            </a:endParaRPr>
          </a:p>
        </p:txBody>
      </p:sp>
      <p:sp>
        <p:nvSpPr>
          <p:cNvPr id="30" name="Text 28"/>
          <p:cNvSpPr/>
          <p:nvPr/>
        </p:nvSpPr>
        <p:spPr>
          <a:xfrm>
            <a:off x="6291071" y="2581491"/>
            <a:ext cx="2578608" cy="256032"/>
          </a:xfrm>
          <a:prstGeom prst="rect">
            <a:avLst/>
          </a:prstGeom>
          <a:noFill/>
          <a:ln/>
        </p:spPr>
        <p:txBody>
          <a:bodyPr wrap="square" rtlCol="0" anchor="ctr"/>
          <a:lstStyle/>
          <a:p>
            <a:pPr marL="0" indent="0">
              <a:buNone/>
            </a:pPr>
            <a:r>
              <a:rPr lang="en-US" sz="2000" b="1" dirty="0">
                <a:solidFill>
                  <a:srgbClr val="C0392B"/>
                </a:solidFill>
                <a:latin typeface="Times New Roman" panose="02020603050405020304" pitchFamily="18" charset="0"/>
                <a:cs typeface="Times New Roman" panose="02020603050405020304" pitchFamily="18" charset="0"/>
              </a:rPr>
              <a:t>Problem:</a:t>
            </a:r>
            <a:endParaRPr lang="en-US" sz="2000" dirty="0">
              <a:latin typeface="Times New Roman" panose="02020603050405020304" pitchFamily="18" charset="0"/>
              <a:cs typeface="Times New Roman" panose="02020603050405020304" pitchFamily="18" charset="0"/>
            </a:endParaRPr>
          </a:p>
        </p:txBody>
      </p:sp>
      <p:sp>
        <p:nvSpPr>
          <p:cNvPr id="31" name="Text 29"/>
          <p:cNvSpPr/>
          <p:nvPr/>
        </p:nvSpPr>
        <p:spPr>
          <a:xfrm>
            <a:off x="6129963" y="3106644"/>
            <a:ext cx="3132038" cy="370007"/>
          </a:xfrm>
          <a:prstGeom prst="rect">
            <a:avLst/>
          </a:prstGeom>
          <a:noFill/>
          <a:ln/>
        </p:spPr>
        <p:txBody>
          <a:bodyPr wrap="square" rtlCol="0" anchor="ctr"/>
          <a:lstStyle/>
          <a:p>
            <a:r>
              <a:rPr lang="en-IN" dirty="0">
                <a:solidFill>
                  <a:srgbClr val="0D1B2A"/>
                </a:solidFill>
                <a:latin typeface="Times New Roman" panose="02020603050405020304" pitchFamily="18" charset="0"/>
                <a:cs typeface="Times New Roman" panose="02020603050405020304" pitchFamily="18" charset="0"/>
              </a:rPr>
              <a:t>Access to training information</a:t>
            </a:r>
          </a:p>
          <a:p>
            <a:r>
              <a:rPr lang="en-IN" dirty="0">
                <a:solidFill>
                  <a:srgbClr val="0D1B2A"/>
                </a:solidFill>
                <a:latin typeface="Times New Roman" panose="02020603050405020304" pitchFamily="18" charset="0"/>
                <a:cs typeface="Times New Roman" panose="02020603050405020304" pitchFamily="18" charset="0"/>
              </a:rPr>
              <a:t>Better understanding of employee learning progress</a:t>
            </a:r>
            <a:endParaRPr lang="en-US" dirty="0">
              <a:latin typeface="Times New Roman" panose="02020603050405020304" pitchFamily="18" charset="0"/>
              <a:cs typeface="Times New Roman" panose="02020603050405020304" pitchFamily="18" charset="0"/>
            </a:endParaRPr>
          </a:p>
        </p:txBody>
      </p:sp>
      <p:sp>
        <p:nvSpPr>
          <p:cNvPr id="32" name="Text 30"/>
          <p:cNvSpPr/>
          <p:nvPr/>
        </p:nvSpPr>
        <p:spPr>
          <a:xfrm>
            <a:off x="6291071" y="3810004"/>
            <a:ext cx="2578608" cy="256032"/>
          </a:xfrm>
          <a:prstGeom prst="rect">
            <a:avLst/>
          </a:prstGeom>
          <a:noFill/>
          <a:ln/>
        </p:spPr>
        <p:txBody>
          <a:bodyPr wrap="square" rtlCol="0" anchor="ctr"/>
          <a:lstStyle/>
          <a:p>
            <a:pPr marL="0" indent="0">
              <a:buNone/>
            </a:pPr>
            <a:r>
              <a:rPr lang="en-US" sz="2000" b="1" dirty="0">
                <a:solidFill>
                  <a:srgbClr val="1E8449"/>
                </a:solidFill>
                <a:latin typeface="Times New Roman" panose="02020603050405020304" pitchFamily="18" charset="0"/>
                <a:cs typeface="Times New Roman" panose="02020603050405020304" pitchFamily="18" charset="0"/>
              </a:rPr>
              <a:t>Goal:</a:t>
            </a:r>
            <a:endParaRPr lang="en-US" sz="2000" dirty="0">
              <a:latin typeface="Times New Roman" panose="02020603050405020304" pitchFamily="18" charset="0"/>
              <a:cs typeface="Times New Roman" panose="02020603050405020304" pitchFamily="18" charset="0"/>
            </a:endParaRPr>
          </a:p>
        </p:txBody>
      </p:sp>
      <p:sp>
        <p:nvSpPr>
          <p:cNvPr id="33" name="Text 31"/>
          <p:cNvSpPr/>
          <p:nvPr/>
        </p:nvSpPr>
        <p:spPr>
          <a:xfrm>
            <a:off x="6247964" y="4172604"/>
            <a:ext cx="2896036" cy="685800"/>
          </a:xfrm>
          <a:prstGeom prst="rect">
            <a:avLst/>
          </a:prstGeom>
          <a:noFill/>
          <a:ln/>
        </p:spPr>
        <p:txBody>
          <a:bodyPr wrap="square" rtlCol="0" anchor="ctr"/>
          <a:lstStyle/>
          <a:p>
            <a:r>
              <a:rPr lang="en-IN" dirty="0">
                <a:solidFill>
                  <a:srgbClr val="0D1B2A"/>
                </a:solidFill>
                <a:latin typeface="Times New Roman" panose="02020603050405020304" pitchFamily="18" charset="0"/>
                <a:cs typeface="Times New Roman" panose="02020603050405020304" pitchFamily="18" charset="0"/>
              </a:rPr>
              <a:t>Use knowledge and training information to make better L&amp;D decisions</a:t>
            </a:r>
            <a:endParaRPr lang="en-US" dirty="0">
              <a:latin typeface="Times New Roman" panose="02020603050405020304" pitchFamily="18" charset="0"/>
              <a:cs typeface="Times New Roman" panose="02020603050405020304" pitchFamily="18" charset="0"/>
            </a:endParaRPr>
          </a:p>
        </p:txBody>
      </p:sp>
      <p:sp>
        <p:nvSpPr>
          <p:cNvPr id="34" name="Text 32"/>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METHODOLOGY — TATABOT SOLUTION DESIGN</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17571" y="777240"/>
            <a:ext cx="2717069" cy="411480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6" name="Text 4"/>
          <p:cNvSpPr/>
          <p:nvPr/>
        </p:nvSpPr>
        <p:spPr>
          <a:xfrm>
            <a:off x="189411" y="877824"/>
            <a:ext cx="2710545" cy="384048"/>
          </a:xfrm>
          <a:prstGeom prst="rect">
            <a:avLst/>
          </a:prstGeom>
          <a:noFill/>
          <a:ln/>
        </p:spPr>
        <p:txBody>
          <a:bodyPr wrap="square" rtlCol="0" anchor="ctr"/>
          <a:lstStyle/>
          <a:p>
            <a:pPr marL="0" indent="0" algn="ctr">
              <a:buNone/>
            </a:pPr>
            <a:r>
              <a:rPr lang="en-US" sz="2400" b="1" dirty="0">
                <a:solidFill>
                  <a:srgbClr val="2E86C1"/>
                </a:solidFill>
                <a:latin typeface="Times New Roman" panose="02020603050405020304" pitchFamily="18" charset="0"/>
                <a:cs typeface="Times New Roman" panose="02020603050405020304" pitchFamily="18" charset="0"/>
              </a:rPr>
              <a:t>USER INPUT</a:t>
            </a:r>
            <a:endParaRPr lang="en-US" sz="2400" dirty="0">
              <a:latin typeface="Times New Roman" panose="02020603050405020304" pitchFamily="18" charset="0"/>
              <a:cs typeface="Times New Roman" panose="02020603050405020304" pitchFamily="18" charset="0"/>
            </a:endParaRPr>
          </a:p>
        </p:txBody>
      </p:sp>
      <p:sp>
        <p:nvSpPr>
          <p:cNvPr id="7" name="Shape 5"/>
          <p:cNvSpPr/>
          <p:nvPr/>
        </p:nvSpPr>
        <p:spPr>
          <a:xfrm>
            <a:off x="195951" y="1389888"/>
            <a:ext cx="2560320" cy="658368"/>
          </a:xfrm>
          <a:prstGeom prst="rect">
            <a:avLst/>
          </a:prstGeom>
          <a:solidFill>
            <a:srgbClr val="0D1B2A"/>
          </a:solidFill>
          <a:ln w="12700">
            <a:solidFill>
              <a:srgbClr val="2E86C1"/>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Text 6"/>
          <p:cNvSpPr/>
          <p:nvPr/>
        </p:nvSpPr>
        <p:spPr>
          <a:xfrm>
            <a:off x="259958" y="1404692"/>
            <a:ext cx="2581213" cy="585216"/>
          </a:xfrm>
          <a:prstGeom prst="rect">
            <a:avLst/>
          </a:prstGeom>
          <a:noFill/>
          <a:ln/>
        </p:spPr>
        <p:txBody>
          <a:bodyPr wrap="square" rtlCol="0" anchor="ctr"/>
          <a:lstStyle/>
          <a:p>
            <a:r>
              <a:rPr lang="en-US" sz="2200" dirty="0">
                <a:solidFill>
                  <a:srgbClr val="FFFFFF"/>
                </a:solidFill>
                <a:latin typeface="Times New Roman" panose="02020603050405020304" pitchFamily="18" charset="0"/>
                <a:cs typeface="Times New Roman" panose="02020603050405020304" pitchFamily="18" charset="0"/>
              </a:rPr>
              <a:t>Employee asks a question</a:t>
            </a:r>
            <a:endParaRPr lang="en-US" sz="2200" dirty="0">
              <a:latin typeface="Times New Roman" panose="02020603050405020304" pitchFamily="18" charset="0"/>
              <a:cs typeface="Times New Roman" panose="02020603050405020304" pitchFamily="18" charset="0"/>
            </a:endParaRPr>
          </a:p>
        </p:txBody>
      </p:sp>
      <p:sp>
        <p:nvSpPr>
          <p:cNvPr id="9" name="Shape 7"/>
          <p:cNvSpPr/>
          <p:nvPr/>
        </p:nvSpPr>
        <p:spPr>
          <a:xfrm>
            <a:off x="195951" y="2194560"/>
            <a:ext cx="2560320" cy="658368"/>
          </a:xfrm>
          <a:prstGeom prst="rect">
            <a:avLst/>
          </a:prstGeom>
          <a:solidFill>
            <a:srgbClr val="0D1B2A"/>
          </a:solidFill>
          <a:ln w="12700">
            <a:solidFill>
              <a:srgbClr val="2E86C1"/>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8"/>
          <p:cNvSpPr/>
          <p:nvPr/>
        </p:nvSpPr>
        <p:spPr>
          <a:xfrm>
            <a:off x="189411" y="2231136"/>
            <a:ext cx="2617153" cy="585216"/>
          </a:xfrm>
          <a:prstGeom prst="rect">
            <a:avLst/>
          </a:prstGeom>
          <a:noFill/>
          <a:ln/>
        </p:spPr>
        <p:txBody>
          <a:bodyPr wrap="square" rtlCol="0" anchor="ctr"/>
          <a:lstStyle/>
          <a:p>
            <a:r>
              <a:rPr lang="en-US" sz="2200" dirty="0">
                <a:solidFill>
                  <a:srgbClr val="FFFFFF"/>
                </a:solidFill>
                <a:latin typeface="Times New Roman" panose="02020603050405020304" pitchFamily="18" charset="0"/>
                <a:cs typeface="Times New Roman" panose="02020603050405020304" pitchFamily="18" charset="0"/>
              </a:rPr>
              <a:t>User role is identified</a:t>
            </a:r>
            <a:endParaRPr lang="en-US" sz="2200" dirty="0">
              <a:latin typeface="Times New Roman" panose="02020603050405020304" pitchFamily="18" charset="0"/>
              <a:cs typeface="Times New Roman" panose="02020603050405020304" pitchFamily="18" charset="0"/>
            </a:endParaRPr>
          </a:p>
        </p:txBody>
      </p:sp>
      <p:sp>
        <p:nvSpPr>
          <p:cNvPr id="11" name="Shape 9"/>
          <p:cNvSpPr/>
          <p:nvPr/>
        </p:nvSpPr>
        <p:spPr>
          <a:xfrm>
            <a:off x="195951" y="2999232"/>
            <a:ext cx="2560320" cy="658368"/>
          </a:xfrm>
          <a:prstGeom prst="rect">
            <a:avLst/>
          </a:prstGeom>
          <a:solidFill>
            <a:srgbClr val="0D1B2A"/>
          </a:solidFill>
          <a:ln w="12700">
            <a:solidFill>
              <a:srgbClr val="2E86C1"/>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2" name="Text 10"/>
          <p:cNvSpPr/>
          <p:nvPr/>
        </p:nvSpPr>
        <p:spPr>
          <a:xfrm>
            <a:off x="259959" y="3003150"/>
            <a:ext cx="2432304" cy="585216"/>
          </a:xfrm>
          <a:prstGeom prst="rect">
            <a:avLst/>
          </a:prstGeom>
          <a:noFill/>
          <a:ln/>
        </p:spPr>
        <p:txBody>
          <a:bodyPr wrap="square" rtlCol="0" anchor="ctr"/>
          <a:lstStyle/>
          <a:p>
            <a:r>
              <a:rPr lang="en-IN" sz="2200" dirty="0">
                <a:solidFill>
                  <a:srgbClr val="FFFFFF"/>
                </a:solidFill>
                <a:latin typeface="Times New Roman" panose="02020603050405020304" pitchFamily="18" charset="0"/>
                <a:cs typeface="Times New Roman" panose="02020603050405020304" pitchFamily="18" charset="0"/>
              </a:rPr>
              <a:t>Query is sent to the AI pipeline</a:t>
            </a:r>
          </a:p>
        </p:txBody>
      </p:sp>
      <p:sp>
        <p:nvSpPr>
          <p:cNvPr id="13" name="Text 11"/>
          <p:cNvSpPr/>
          <p:nvPr/>
        </p:nvSpPr>
        <p:spPr>
          <a:xfrm>
            <a:off x="2811780" y="2445367"/>
            <a:ext cx="320040" cy="365760"/>
          </a:xfrm>
          <a:prstGeom prst="rect">
            <a:avLst/>
          </a:prstGeom>
          <a:noFill/>
          <a:ln/>
        </p:spPr>
        <p:txBody>
          <a:bodyPr wrap="square" rtlCol="0" anchor="ctr"/>
          <a:lstStyle/>
          <a:p>
            <a:pPr marL="0" indent="0" algn="ctr">
              <a:buNone/>
            </a:pPr>
            <a:r>
              <a:rPr lang="en-US" sz="2200" dirty="0">
                <a:solidFill>
                  <a:srgbClr val="F39C12"/>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14" name="Shape 12"/>
          <p:cNvSpPr/>
          <p:nvPr/>
        </p:nvSpPr>
        <p:spPr>
          <a:xfrm>
            <a:off x="3115500" y="777240"/>
            <a:ext cx="2834640" cy="411480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5" name="Shape 13"/>
          <p:cNvSpPr/>
          <p:nvPr/>
        </p:nvSpPr>
        <p:spPr>
          <a:xfrm>
            <a:off x="3108969" y="777240"/>
            <a:ext cx="2834640" cy="54864"/>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6" name="Text 14"/>
          <p:cNvSpPr/>
          <p:nvPr/>
        </p:nvSpPr>
        <p:spPr>
          <a:xfrm>
            <a:off x="3206940" y="877824"/>
            <a:ext cx="2651760" cy="384048"/>
          </a:xfrm>
          <a:prstGeom prst="rect">
            <a:avLst/>
          </a:prstGeom>
          <a:noFill/>
          <a:ln/>
        </p:spPr>
        <p:txBody>
          <a:bodyPr wrap="square" rtlCol="0" anchor="ctr"/>
          <a:lstStyle/>
          <a:p>
            <a:pPr marL="0" indent="0" algn="ctr">
              <a:buNone/>
            </a:pPr>
            <a:r>
              <a:rPr lang="en-US" sz="2400" b="1" dirty="0">
                <a:solidFill>
                  <a:srgbClr val="F39C12"/>
                </a:solidFill>
                <a:latin typeface="Times New Roman" panose="02020603050405020304" pitchFamily="18" charset="0"/>
                <a:cs typeface="Times New Roman" panose="02020603050405020304" pitchFamily="18" charset="0"/>
              </a:rPr>
              <a:t>AI PROCESS</a:t>
            </a:r>
            <a:endParaRPr lang="en-US" sz="2400" dirty="0">
              <a:latin typeface="Times New Roman" panose="02020603050405020304" pitchFamily="18" charset="0"/>
              <a:cs typeface="Times New Roman" panose="02020603050405020304" pitchFamily="18" charset="0"/>
            </a:endParaRPr>
          </a:p>
        </p:txBody>
      </p:sp>
      <p:sp>
        <p:nvSpPr>
          <p:cNvPr id="17" name="Shape 15"/>
          <p:cNvSpPr/>
          <p:nvPr/>
        </p:nvSpPr>
        <p:spPr>
          <a:xfrm>
            <a:off x="3252660" y="1389888"/>
            <a:ext cx="2560320" cy="658368"/>
          </a:xfrm>
          <a:prstGeom prst="rect">
            <a:avLst/>
          </a:prstGeom>
          <a:solidFill>
            <a:srgbClr val="0D1B2A"/>
          </a:solidFill>
          <a:ln w="12700">
            <a:solidFill>
              <a:srgbClr val="F39C12"/>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8" name="Text 16"/>
          <p:cNvSpPr/>
          <p:nvPr/>
        </p:nvSpPr>
        <p:spPr>
          <a:xfrm>
            <a:off x="3316668" y="1426464"/>
            <a:ext cx="2432304" cy="585216"/>
          </a:xfrm>
          <a:prstGeom prst="rect">
            <a:avLst/>
          </a:prstGeom>
          <a:noFill/>
          <a:ln/>
        </p:spPr>
        <p:txBody>
          <a:bodyPr wrap="square" rtlCol="0" anchor="ctr"/>
          <a:lstStyle/>
          <a:p>
            <a:r>
              <a:rPr lang="en-US" sz="2200" dirty="0">
                <a:solidFill>
                  <a:srgbClr val="FFFFFF"/>
                </a:solidFill>
                <a:latin typeface="Times New Roman" panose="02020603050405020304" pitchFamily="18" charset="0"/>
                <a:cs typeface="Times New Roman" panose="02020603050405020304" pitchFamily="18" charset="0"/>
              </a:rPr>
              <a:t>Step 1: Understand query and user role</a:t>
            </a:r>
            <a:endParaRPr lang="en-US" sz="2200" dirty="0">
              <a:latin typeface="Times New Roman" panose="02020603050405020304" pitchFamily="18" charset="0"/>
              <a:cs typeface="Times New Roman" panose="02020603050405020304" pitchFamily="18" charset="0"/>
            </a:endParaRPr>
          </a:p>
        </p:txBody>
      </p:sp>
      <p:sp>
        <p:nvSpPr>
          <p:cNvPr id="19" name="Shape 17"/>
          <p:cNvSpPr/>
          <p:nvPr/>
        </p:nvSpPr>
        <p:spPr>
          <a:xfrm>
            <a:off x="3252660" y="2194560"/>
            <a:ext cx="2560320" cy="658368"/>
          </a:xfrm>
          <a:prstGeom prst="rect">
            <a:avLst/>
          </a:prstGeom>
          <a:solidFill>
            <a:srgbClr val="0D1B2A"/>
          </a:solidFill>
          <a:ln w="12700">
            <a:solidFill>
              <a:srgbClr val="F39C12"/>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0" name="Text 18"/>
          <p:cNvSpPr/>
          <p:nvPr/>
        </p:nvSpPr>
        <p:spPr>
          <a:xfrm>
            <a:off x="3316668" y="2231136"/>
            <a:ext cx="2432304" cy="585216"/>
          </a:xfrm>
          <a:prstGeom prst="rect">
            <a:avLst/>
          </a:prstGeom>
          <a:noFill/>
          <a:ln/>
        </p:spPr>
        <p:txBody>
          <a:bodyPr wrap="square" rtlCol="0" anchor="ctr"/>
          <a:lstStyle/>
          <a:p>
            <a:pPr marL="0" indent="0">
              <a:buNone/>
            </a:pPr>
            <a:r>
              <a:rPr lang="en-US" sz="2200" dirty="0">
                <a:solidFill>
                  <a:srgbClr val="FFFFFF"/>
                </a:solidFill>
                <a:latin typeface="Times New Roman" panose="02020603050405020304" pitchFamily="18" charset="0"/>
                <a:cs typeface="Times New Roman" panose="02020603050405020304" pitchFamily="18" charset="0"/>
              </a:rPr>
              <a:t>Step 2: Search knowledge base</a:t>
            </a:r>
            <a:endParaRPr lang="en-US" sz="2200" dirty="0">
              <a:latin typeface="Times New Roman" panose="02020603050405020304" pitchFamily="18" charset="0"/>
              <a:cs typeface="Times New Roman" panose="02020603050405020304" pitchFamily="18" charset="0"/>
            </a:endParaRPr>
          </a:p>
        </p:txBody>
      </p:sp>
      <p:sp>
        <p:nvSpPr>
          <p:cNvPr id="21" name="Shape 19"/>
          <p:cNvSpPr/>
          <p:nvPr/>
        </p:nvSpPr>
        <p:spPr>
          <a:xfrm>
            <a:off x="3252660" y="2999232"/>
            <a:ext cx="2560320" cy="658368"/>
          </a:xfrm>
          <a:prstGeom prst="rect">
            <a:avLst/>
          </a:prstGeom>
          <a:solidFill>
            <a:srgbClr val="0D1B2A"/>
          </a:solidFill>
          <a:ln w="12700">
            <a:solidFill>
              <a:srgbClr val="F39C12"/>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2" name="Text 20"/>
          <p:cNvSpPr/>
          <p:nvPr/>
        </p:nvSpPr>
        <p:spPr>
          <a:xfrm>
            <a:off x="3316668" y="3035808"/>
            <a:ext cx="2432304" cy="585216"/>
          </a:xfrm>
          <a:prstGeom prst="rect">
            <a:avLst/>
          </a:prstGeom>
          <a:noFill/>
          <a:ln/>
        </p:spPr>
        <p:txBody>
          <a:bodyPr wrap="square" rtlCol="0" anchor="ctr"/>
          <a:lstStyle/>
          <a:p>
            <a:pPr marL="0" indent="0">
              <a:buNone/>
            </a:pPr>
            <a:r>
              <a:rPr lang="en-US" sz="2200" dirty="0">
                <a:solidFill>
                  <a:srgbClr val="FFFFFF"/>
                </a:solidFill>
                <a:latin typeface="Times New Roman" panose="02020603050405020304" pitchFamily="18" charset="0"/>
                <a:cs typeface="Times New Roman" panose="02020603050405020304" pitchFamily="18" charset="0"/>
              </a:rPr>
              <a:t>Step 3: Generate clear response</a:t>
            </a:r>
            <a:endParaRPr lang="en-US" sz="2200" dirty="0">
              <a:latin typeface="Times New Roman" panose="02020603050405020304" pitchFamily="18" charset="0"/>
              <a:cs typeface="Times New Roman" panose="02020603050405020304" pitchFamily="18" charset="0"/>
            </a:endParaRPr>
          </a:p>
        </p:txBody>
      </p:sp>
      <p:sp>
        <p:nvSpPr>
          <p:cNvPr id="23" name="Shape 21"/>
          <p:cNvSpPr/>
          <p:nvPr/>
        </p:nvSpPr>
        <p:spPr>
          <a:xfrm>
            <a:off x="3252660" y="3803904"/>
            <a:ext cx="2560320" cy="658368"/>
          </a:xfrm>
          <a:prstGeom prst="rect">
            <a:avLst/>
          </a:prstGeom>
          <a:solidFill>
            <a:srgbClr val="0D1B2A"/>
          </a:solidFill>
          <a:ln w="12700">
            <a:solidFill>
              <a:srgbClr val="F39C12"/>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4" name="Text 22"/>
          <p:cNvSpPr/>
          <p:nvPr/>
        </p:nvSpPr>
        <p:spPr>
          <a:xfrm>
            <a:off x="3316668" y="3840480"/>
            <a:ext cx="2432304" cy="585216"/>
          </a:xfrm>
          <a:prstGeom prst="rect">
            <a:avLst/>
          </a:prstGeom>
          <a:noFill/>
          <a:ln/>
        </p:spPr>
        <p:txBody>
          <a:bodyPr wrap="square" rtlCol="0" anchor="ctr"/>
          <a:lstStyle/>
          <a:p>
            <a:pPr marL="0" indent="0">
              <a:buNone/>
            </a:pPr>
            <a:r>
              <a:rPr lang="en-US" sz="2200" dirty="0">
                <a:solidFill>
                  <a:srgbClr val="FFFFFF"/>
                </a:solidFill>
                <a:latin typeface="Times New Roman" panose="02020603050405020304" pitchFamily="18" charset="0"/>
                <a:cs typeface="Times New Roman" panose="02020603050405020304" pitchFamily="18" charset="0"/>
              </a:rPr>
              <a:t>Step 4: </a:t>
            </a:r>
            <a:r>
              <a:rPr lang="en-US" sz="2200" dirty="0" err="1">
                <a:solidFill>
                  <a:srgbClr val="FFFFFF"/>
                </a:solidFill>
                <a:latin typeface="Times New Roman" panose="02020603050405020304" pitchFamily="18" charset="0"/>
                <a:cs typeface="Times New Roman" panose="02020603050405020304" pitchFamily="18" charset="0"/>
              </a:rPr>
              <a:t>Personalise</a:t>
            </a:r>
            <a:endParaRPr lang="en-US" sz="2200" dirty="0">
              <a:solidFill>
                <a:srgbClr val="FFFFFF"/>
              </a:solidFill>
              <a:latin typeface="Times New Roman" panose="02020603050405020304" pitchFamily="18" charset="0"/>
              <a:cs typeface="Times New Roman" panose="02020603050405020304" pitchFamily="18" charset="0"/>
            </a:endParaRPr>
          </a:p>
          <a:p>
            <a:pPr marL="0" indent="0">
              <a:buNone/>
            </a:pPr>
            <a:r>
              <a:rPr lang="en-US" sz="2200" dirty="0">
                <a:solidFill>
                  <a:srgbClr val="FFFFFF"/>
                </a:solidFill>
                <a:latin typeface="Times New Roman" panose="02020603050405020304" pitchFamily="18" charset="0"/>
                <a:cs typeface="Times New Roman" panose="02020603050405020304" pitchFamily="18" charset="0"/>
              </a:rPr>
              <a:t>by role</a:t>
            </a:r>
            <a:endParaRPr lang="en-US" sz="2200" dirty="0">
              <a:latin typeface="Times New Roman" panose="02020603050405020304" pitchFamily="18" charset="0"/>
              <a:cs typeface="Times New Roman" panose="02020603050405020304" pitchFamily="18" charset="0"/>
            </a:endParaRPr>
          </a:p>
        </p:txBody>
      </p:sp>
      <p:sp>
        <p:nvSpPr>
          <p:cNvPr id="25" name="Text 23"/>
          <p:cNvSpPr/>
          <p:nvPr/>
        </p:nvSpPr>
        <p:spPr>
          <a:xfrm>
            <a:off x="5941641" y="2468880"/>
            <a:ext cx="320040" cy="365760"/>
          </a:xfrm>
          <a:prstGeom prst="rect">
            <a:avLst/>
          </a:prstGeom>
          <a:noFill/>
          <a:ln/>
        </p:spPr>
        <p:txBody>
          <a:bodyPr wrap="square" rtlCol="0" anchor="ctr"/>
          <a:lstStyle/>
          <a:p>
            <a:pPr marL="0" indent="0" algn="ctr">
              <a:buNone/>
            </a:pPr>
            <a:r>
              <a:rPr lang="en-US" sz="2200" dirty="0">
                <a:solidFill>
                  <a:srgbClr val="F39C12"/>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26" name="Shape 24"/>
          <p:cNvSpPr/>
          <p:nvPr/>
        </p:nvSpPr>
        <p:spPr>
          <a:xfrm>
            <a:off x="6237519" y="777240"/>
            <a:ext cx="2834640" cy="411480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7" name="Shape 25"/>
          <p:cNvSpPr/>
          <p:nvPr/>
        </p:nvSpPr>
        <p:spPr>
          <a:xfrm>
            <a:off x="6237519" y="777240"/>
            <a:ext cx="2834640" cy="54864"/>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8" name="Text 26"/>
          <p:cNvSpPr/>
          <p:nvPr/>
        </p:nvSpPr>
        <p:spPr>
          <a:xfrm>
            <a:off x="6328959" y="877824"/>
            <a:ext cx="2651760" cy="384048"/>
          </a:xfrm>
          <a:prstGeom prst="rect">
            <a:avLst/>
          </a:prstGeom>
          <a:noFill/>
          <a:ln/>
        </p:spPr>
        <p:txBody>
          <a:bodyPr wrap="square" rtlCol="0" anchor="ctr"/>
          <a:lstStyle/>
          <a:p>
            <a:pPr marL="0" indent="0" algn="ctr">
              <a:buNone/>
            </a:pPr>
            <a:r>
              <a:rPr lang="en-US" sz="2400" b="1" dirty="0">
                <a:solidFill>
                  <a:srgbClr val="1E8449"/>
                </a:solidFill>
                <a:latin typeface="Times New Roman" panose="02020603050405020304" pitchFamily="18" charset="0"/>
                <a:cs typeface="Times New Roman" panose="02020603050405020304" pitchFamily="18" charset="0"/>
              </a:rPr>
              <a:t>OUTPUT</a:t>
            </a:r>
            <a:endParaRPr lang="en-US" sz="2400" dirty="0">
              <a:latin typeface="Times New Roman" panose="02020603050405020304" pitchFamily="18" charset="0"/>
              <a:cs typeface="Times New Roman" panose="02020603050405020304" pitchFamily="18" charset="0"/>
            </a:endParaRPr>
          </a:p>
        </p:txBody>
      </p:sp>
      <p:sp>
        <p:nvSpPr>
          <p:cNvPr id="29" name="Shape 27"/>
          <p:cNvSpPr/>
          <p:nvPr/>
        </p:nvSpPr>
        <p:spPr>
          <a:xfrm>
            <a:off x="6374679" y="1389888"/>
            <a:ext cx="2560320" cy="658368"/>
          </a:xfrm>
          <a:prstGeom prst="rect">
            <a:avLst/>
          </a:prstGeom>
          <a:solidFill>
            <a:srgbClr val="0D1B2A"/>
          </a:solidFill>
          <a:ln w="12700">
            <a:solidFill>
              <a:srgbClr val="1E8449"/>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0" name="Text 28"/>
          <p:cNvSpPr/>
          <p:nvPr/>
        </p:nvSpPr>
        <p:spPr>
          <a:xfrm>
            <a:off x="6438687" y="1426464"/>
            <a:ext cx="2432304" cy="585216"/>
          </a:xfrm>
          <a:prstGeom prst="rect">
            <a:avLst/>
          </a:prstGeom>
          <a:noFill/>
          <a:ln/>
        </p:spPr>
        <p:txBody>
          <a:bodyPr wrap="square" rtlCol="0" anchor="ctr"/>
          <a:lstStyle/>
          <a:p>
            <a:r>
              <a:rPr lang="en-US" sz="2200" dirty="0">
                <a:solidFill>
                  <a:srgbClr val="FFFFFF"/>
                </a:solidFill>
                <a:latin typeface="Times New Roman" panose="02020603050405020304" pitchFamily="18" charset="0"/>
                <a:cs typeface="Times New Roman" panose="02020603050405020304" pitchFamily="18" charset="0"/>
              </a:rPr>
              <a:t>Clear and direct answer</a:t>
            </a:r>
            <a:endParaRPr lang="en-US" sz="2200" dirty="0">
              <a:latin typeface="Times New Roman" panose="02020603050405020304" pitchFamily="18" charset="0"/>
              <a:cs typeface="Times New Roman" panose="02020603050405020304" pitchFamily="18" charset="0"/>
            </a:endParaRPr>
          </a:p>
        </p:txBody>
      </p:sp>
      <p:sp>
        <p:nvSpPr>
          <p:cNvPr id="31" name="Shape 29"/>
          <p:cNvSpPr/>
          <p:nvPr/>
        </p:nvSpPr>
        <p:spPr>
          <a:xfrm>
            <a:off x="6374679" y="2194560"/>
            <a:ext cx="2560320" cy="658368"/>
          </a:xfrm>
          <a:prstGeom prst="rect">
            <a:avLst/>
          </a:prstGeom>
          <a:solidFill>
            <a:srgbClr val="0D1B2A"/>
          </a:solidFill>
          <a:ln w="12700">
            <a:solidFill>
              <a:srgbClr val="1E8449"/>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2" name="Text 30"/>
          <p:cNvSpPr/>
          <p:nvPr/>
        </p:nvSpPr>
        <p:spPr>
          <a:xfrm>
            <a:off x="6438687" y="2231136"/>
            <a:ext cx="2432304" cy="585216"/>
          </a:xfrm>
          <a:prstGeom prst="rect">
            <a:avLst/>
          </a:prstGeom>
          <a:noFill/>
          <a:ln/>
        </p:spPr>
        <p:txBody>
          <a:bodyPr wrap="square" rtlCol="0" anchor="ctr"/>
          <a:lstStyle/>
          <a:p>
            <a:pPr marL="0" indent="0">
              <a:buNone/>
            </a:pPr>
            <a:r>
              <a:rPr lang="en-US" sz="2200" dirty="0">
                <a:solidFill>
                  <a:srgbClr val="FFFFFF"/>
                </a:solidFill>
                <a:latin typeface="Times New Roman" panose="02020603050405020304" pitchFamily="18" charset="0"/>
                <a:cs typeface="Times New Roman" panose="02020603050405020304" pitchFamily="18" charset="0"/>
              </a:rPr>
              <a:t>Step-by-step guidance</a:t>
            </a:r>
            <a:endParaRPr lang="en-US" sz="2200" dirty="0">
              <a:latin typeface="Times New Roman" panose="02020603050405020304" pitchFamily="18" charset="0"/>
              <a:cs typeface="Times New Roman" panose="02020603050405020304" pitchFamily="18" charset="0"/>
            </a:endParaRPr>
          </a:p>
        </p:txBody>
      </p:sp>
      <p:sp>
        <p:nvSpPr>
          <p:cNvPr id="33" name="Shape 31"/>
          <p:cNvSpPr/>
          <p:nvPr/>
        </p:nvSpPr>
        <p:spPr>
          <a:xfrm>
            <a:off x="6374679" y="2999232"/>
            <a:ext cx="2560320" cy="658368"/>
          </a:xfrm>
          <a:prstGeom prst="rect">
            <a:avLst/>
          </a:prstGeom>
          <a:solidFill>
            <a:srgbClr val="0D1B2A"/>
          </a:solidFill>
          <a:ln w="12700">
            <a:solidFill>
              <a:srgbClr val="1E8449"/>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4" name="Text 32"/>
          <p:cNvSpPr/>
          <p:nvPr/>
        </p:nvSpPr>
        <p:spPr>
          <a:xfrm>
            <a:off x="6438687" y="3035808"/>
            <a:ext cx="2432304" cy="585216"/>
          </a:xfrm>
          <a:prstGeom prst="rect">
            <a:avLst/>
          </a:prstGeom>
          <a:noFill/>
          <a:ln/>
        </p:spPr>
        <p:txBody>
          <a:bodyPr wrap="square" rtlCol="0" anchor="ctr"/>
          <a:lstStyle/>
          <a:p>
            <a:r>
              <a:rPr lang="en-US" sz="2200" dirty="0">
                <a:solidFill>
                  <a:srgbClr val="FFFFFF"/>
                </a:solidFill>
                <a:latin typeface="Times New Roman" panose="02020603050405020304" pitchFamily="18" charset="0"/>
                <a:cs typeface="Times New Roman" panose="02020603050405020304" pitchFamily="18" charset="0"/>
              </a:rPr>
              <a:t>Relevant information</a:t>
            </a:r>
            <a:endParaRPr lang="en-US" sz="2200" dirty="0">
              <a:latin typeface="Times New Roman" panose="02020603050405020304" pitchFamily="18" charset="0"/>
              <a:cs typeface="Times New Roman" panose="02020603050405020304" pitchFamily="18" charset="0"/>
            </a:endParaRPr>
          </a:p>
        </p:txBody>
      </p:sp>
      <p:sp>
        <p:nvSpPr>
          <p:cNvPr id="35" name="Shape 33"/>
          <p:cNvSpPr/>
          <p:nvPr/>
        </p:nvSpPr>
        <p:spPr>
          <a:xfrm>
            <a:off x="6374679" y="3803904"/>
            <a:ext cx="2560320" cy="658368"/>
          </a:xfrm>
          <a:prstGeom prst="rect">
            <a:avLst/>
          </a:prstGeom>
          <a:solidFill>
            <a:srgbClr val="0D1B2A"/>
          </a:solidFill>
          <a:ln w="12700">
            <a:solidFill>
              <a:srgbClr val="1E8449"/>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6" name="Text 34"/>
          <p:cNvSpPr/>
          <p:nvPr/>
        </p:nvSpPr>
        <p:spPr>
          <a:xfrm>
            <a:off x="6438687" y="3840480"/>
            <a:ext cx="2432304" cy="585216"/>
          </a:xfrm>
          <a:prstGeom prst="rect">
            <a:avLst/>
          </a:prstGeom>
          <a:noFill/>
          <a:ln/>
        </p:spPr>
        <p:txBody>
          <a:bodyPr wrap="square" rtlCol="0" anchor="ctr"/>
          <a:lstStyle/>
          <a:p>
            <a:pPr marL="0" indent="0">
              <a:buNone/>
            </a:pPr>
            <a:r>
              <a:rPr lang="en-US" sz="2200" dirty="0">
                <a:solidFill>
                  <a:srgbClr val="FFFFFF"/>
                </a:solidFill>
                <a:latin typeface="Times New Roman" panose="02020603050405020304" pitchFamily="18" charset="0"/>
                <a:cs typeface="Times New Roman" panose="02020603050405020304" pitchFamily="18" charset="0"/>
              </a:rPr>
              <a:t>Source document cited</a:t>
            </a:r>
            <a:endParaRPr lang="en-US" sz="2200" dirty="0">
              <a:latin typeface="Times New Roman" panose="02020603050405020304" pitchFamily="18" charset="0"/>
              <a:cs typeface="Times New Roman" panose="02020603050405020304" pitchFamily="18" charset="0"/>
            </a:endParaRPr>
          </a:p>
        </p:txBody>
      </p:sp>
      <p:sp>
        <p:nvSpPr>
          <p:cNvPr id="37" name="Text 35"/>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F45C7B6A-B335-6AF6-2ED1-E9ECEA54F4F1}"/>
              </a:ext>
            </a:extLst>
          </p:cNvPr>
          <p:cNvSpPr/>
          <p:nvPr/>
        </p:nvSpPr>
        <p:spPr>
          <a:xfrm>
            <a:off x="119476" y="784479"/>
            <a:ext cx="2710545" cy="45719"/>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930"/>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59F70CD3-93FB-0EFB-1D60-F5BD0B0783FB}"/>
              </a:ext>
            </a:extLst>
          </p:cNvPr>
          <p:cNvSpPr>
            <a:spLocks noChangeArrowheads="1"/>
          </p:cNvSpPr>
          <p:nvPr/>
        </p:nvSpPr>
        <p:spPr bwMode="auto">
          <a:xfrm>
            <a:off x="0" y="0"/>
            <a:ext cx="9141619" cy="570309"/>
          </a:xfrm>
          <a:prstGeom prst="rect">
            <a:avLst/>
          </a:prstGeom>
          <a:solidFill>
            <a:srgbClr val="F5A623"/>
          </a:solidFill>
          <a:ln w="12600" cap="flat">
            <a:solidFill>
              <a:srgbClr val="F5A62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074" name="Rectangle 2">
            <a:extLst>
              <a:ext uri="{FF2B5EF4-FFF2-40B4-BE49-F238E27FC236}">
                <a16:creationId xmlns:a16="http://schemas.microsoft.com/office/drawing/2014/main" id="{289442F6-A875-3753-4568-2C603E7C4819}"/>
              </a:ext>
            </a:extLst>
          </p:cNvPr>
          <p:cNvSpPr>
            <a:spLocks noChangeArrowheads="1"/>
          </p:cNvSpPr>
          <p:nvPr/>
        </p:nvSpPr>
        <p:spPr bwMode="auto">
          <a:xfrm>
            <a:off x="320161" y="0"/>
            <a:ext cx="8451769" cy="5917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 pos="4114800" algn="l"/>
                <a:tab pos="4800600" algn="l"/>
                <a:tab pos="5486400" algn="l"/>
                <a:tab pos="6172200" algn="l"/>
                <a:tab pos="6858000" algn="l"/>
                <a:tab pos="7543800" algn="l"/>
                <a:tab pos="8229600" algn="l"/>
              </a:tabLst>
            </a:pPr>
            <a:r>
              <a:rPr lang="en-US" altLang="en-US" sz="2400" b="1" dirty="0">
                <a:solidFill>
                  <a:schemeClr val="bg1"/>
                </a:solidFill>
                <a:latin typeface="Times New Roman" panose="02020603050405020304" pitchFamily="18" charset="0"/>
                <a:cs typeface="Times New Roman" panose="02020603050405020304" pitchFamily="18" charset="0"/>
              </a:rPr>
              <a:t>TATABOT — TECHNICAL ARCHITECTURE</a:t>
            </a:r>
          </a:p>
        </p:txBody>
      </p:sp>
      <p:sp>
        <p:nvSpPr>
          <p:cNvPr id="3076" name="Rectangle 4">
            <a:extLst>
              <a:ext uri="{FF2B5EF4-FFF2-40B4-BE49-F238E27FC236}">
                <a16:creationId xmlns:a16="http://schemas.microsoft.com/office/drawing/2014/main" id="{E4B1DCCC-C319-938E-E3AE-966CB5734BCD}"/>
              </a:ext>
            </a:extLst>
          </p:cNvPr>
          <p:cNvSpPr>
            <a:spLocks noChangeArrowheads="1"/>
          </p:cNvSpPr>
          <p:nvPr/>
        </p:nvSpPr>
        <p:spPr bwMode="auto">
          <a:xfrm>
            <a:off x="2265996" y="646783"/>
            <a:ext cx="4963899" cy="561975"/>
          </a:xfrm>
          <a:prstGeom prst="rect">
            <a:avLst/>
          </a:prstGeom>
          <a:solidFill>
            <a:srgbClr val="12244A"/>
          </a:solidFill>
          <a:ln w="19080" cap="flat">
            <a:solidFill>
              <a:srgbClr val="2E86DE"/>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077" name="AutoShape 5">
            <a:extLst>
              <a:ext uri="{FF2B5EF4-FFF2-40B4-BE49-F238E27FC236}">
                <a16:creationId xmlns:a16="http://schemas.microsoft.com/office/drawing/2014/main" id="{493149B6-6F75-C62B-A7DF-9EAFCBEFCCE2}"/>
              </a:ext>
            </a:extLst>
          </p:cNvPr>
          <p:cNvSpPr>
            <a:spLocks noChangeArrowheads="1"/>
          </p:cNvSpPr>
          <p:nvPr/>
        </p:nvSpPr>
        <p:spPr bwMode="auto">
          <a:xfrm>
            <a:off x="2265997" y="737984"/>
            <a:ext cx="301229" cy="301229"/>
          </a:xfrm>
          <a:custGeom>
            <a:avLst/>
            <a:gdLst>
              <a:gd name="G0" fmla="*/ 1118 1 2"/>
              <a:gd name="G1" fmla="*/ 1 48365 11520"/>
              <a:gd name="G2" fmla="*/ G1 32767 1"/>
              <a:gd name="G3" fmla="*/ G2 1 32767"/>
              <a:gd name="G4" fmla="cos G0 G3"/>
              <a:gd name="G5" fmla="*/ 1118 1 2"/>
              <a:gd name="G6" fmla="*/ 1 48365 11520"/>
              <a:gd name="G7" fmla="*/ G6 32767 1"/>
              <a:gd name="G8" fmla="*/ G7 1 32767"/>
              <a:gd name="G9" fmla="sin G5 G8"/>
              <a:gd name="G10" fmla="*/ 1118 1 2"/>
              <a:gd name="G11" fmla="+- G10 0 G4"/>
              <a:gd name="G12" fmla="+- G10 G4 0"/>
              <a:gd name="G13" fmla="+- G12 0 0"/>
              <a:gd name="G14" fmla="*/ 1118 1 2"/>
              <a:gd name="G15" fmla="+- G14 0 G9"/>
              <a:gd name="G16" fmla="+- G14 G9 0"/>
              <a:gd name="G17" fmla="+- G16 0 0"/>
              <a:gd name="G18" fmla="+- 1118 0 0"/>
              <a:gd name="G19" fmla="+- 1118 0 0"/>
              <a:gd name="G20" fmla="+- 180 0 0"/>
              <a:gd name="G21" fmla="+- 90 0 0"/>
              <a:gd name="G22" fmla="+- 270 0 0"/>
              <a:gd name="G23" fmla="+- 90 0 0"/>
              <a:gd name="G24" fmla="+- 0 0 0"/>
              <a:gd name="G25" fmla="+- 90 0 0"/>
              <a:gd name="G26" fmla="+- 90 0 0"/>
              <a:gd name="G27" fmla="+- 90 0 0"/>
            </a:gdLst>
            <a:ahLst/>
            <a:cxnLst>
              <a:cxn ang="0">
                <a:pos x="r" y="vc"/>
              </a:cxn>
              <a:cxn ang="5400000">
                <a:pos x="hc" y="b"/>
              </a:cxn>
              <a:cxn ang="10800000">
                <a:pos x="l" y="vc"/>
              </a:cxn>
              <a:cxn ang="16200000">
                <a:pos x="hc" y="t"/>
              </a:cxn>
            </a:cxnLst>
            <a:rect l="0" t="0" r="0" b="0"/>
            <a:pathLst>
              <a:path>
                <a:moveTo>
                  <a:pt x="0" y="559"/>
                </a:moveTo>
                <a:lnTo>
                  <a:pt x="559" y="559"/>
                </a:lnTo>
                <a:lnTo>
                  <a:pt x="180" y="90"/>
                </a:lnTo>
                <a:lnTo>
                  <a:pt x="559" y="559"/>
                </a:lnTo>
                <a:lnTo>
                  <a:pt x="270" y="90"/>
                </a:lnTo>
                <a:close/>
              </a:path>
            </a:pathLst>
          </a:custGeom>
          <a:solidFill>
            <a:srgbClr val="0B1930"/>
          </a:solidFill>
          <a:ln w="25560" cap="flat">
            <a:solidFill>
              <a:srgbClr val="2E86DE"/>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078" name="Rectangle 6">
            <a:extLst>
              <a:ext uri="{FF2B5EF4-FFF2-40B4-BE49-F238E27FC236}">
                <a16:creationId xmlns:a16="http://schemas.microsoft.com/office/drawing/2014/main" id="{FE77A90C-F0BF-2BDD-6E99-AB1BFC09C544}"/>
              </a:ext>
            </a:extLst>
          </p:cNvPr>
          <p:cNvSpPr>
            <a:spLocks noChangeArrowheads="1"/>
          </p:cNvSpPr>
          <p:nvPr/>
        </p:nvSpPr>
        <p:spPr bwMode="auto">
          <a:xfrm>
            <a:off x="2384824" y="782751"/>
            <a:ext cx="301229" cy="301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2400" b="1" dirty="0">
                <a:solidFill>
                  <a:srgbClr val="2E86DE"/>
                </a:solidFill>
                <a:latin typeface="Times New Roman" panose="02020603050405020304" pitchFamily="18" charset="0"/>
                <a:cs typeface="Times New Roman" panose="02020603050405020304" pitchFamily="18" charset="0"/>
              </a:rPr>
              <a:t>1</a:t>
            </a:r>
          </a:p>
        </p:txBody>
      </p:sp>
      <p:sp>
        <p:nvSpPr>
          <p:cNvPr id="3079" name="Rectangle 7">
            <a:extLst>
              <a:ext uri="{FF2B5EF4-FFF2-40B4-BE49-F238E27FC236}">
                <a16:creationId xmlns:a16="http://schemas.microsoft.com/office/drawing/2014/main" id="{CE685BA4-9977-5B5D-E001-28BBB9002078}"/>
              </a:ext>
            </a:extLst>
          </p:cNvPr>
          <p:cNvSpPr>
            <a:spLocks noChangeArrowheads="1"/>
          </p:cNvSpPr>
          <p:nvPr/>
        </p:nvSpPr>
        <p:spPr bwMode="auto">
          <a:xfrm>
            <a:off x="2697004" y="648688"/>
            <a:ext cx="3634979" cy="273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600" b="1" dirty="0">
                <a:solidFill>
                  <a:srgbClr val="2E86DE"/>
                </a:solidFill>
                <a:latin typeface="Times New Roman" panose="02020603050405020304" pitchFamily="18" charset="0"/>
                <a:cs typeface="Times New Roman" panose="02020603050405020304" pitchFamily="18" charset="0"/>
              </a:rPr>
              <a:t>EMPLOYEE</a:t>
            </a:r>
          </a:p>
        </p:txBody>
      </p:sp>
      <p:sp>
        <p:nvSpPr>
          <p:cNvPr id="3080" name="Rectangle 8">
            <a:extLst>
              <a:ext uri="{FF2B5EF4-FFF2-40B4-BE49-F238E27FC236}">
                <a16:creationId xmlns:a16="http://schemas.microsoft.com/office/drawing/2014/main" id="{6098CDEF-F774-F6CC-5B23-1DD391331ED6}"/>
              </a:ext>
            </a:extLst>
          </p:cNvPr>
          <p:cNvSpPr>
            <a:spLocks noChangeArrowheads="1"/>
          </p:cNvSpPr>
          <p:nvPr/>
        </p:nvSpPr>
        <p:spPr bwMode="auto">
          <a:xfrm>
            <a:off x="2697004" y="896338"/>
            <a:ext cx="4240244" cy="2464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500" dirty="0">
                <a:solidFill>
                  <a:srgbClr val="FFFFFF"/>
                </a:solidFill>
                <a:latin typeface="Times New Roman" panose="02020603050405020304" pitchFamily="18" charset="0"/>
                <a:cs typeface="Times New Roman" panose="02020603050405020304" pitchFamily="18" charset="0"/>
              </a:rPr>
              <a:t>New Operator • Technician • L&amp;D Manager</a:t>
            </a:r>
          </a:p>
        </p:txBody>
      </p:sp>
      <p:sp>
        <p:nvSpPr>
          <p:cNvPr id="3081" name="Rectangle 9">
            <a:extLst>
              <a:ext uri="{FF2B5EF4-FFF2-40B4-BE49-F238E27FC236}">
                <a16:creationId xmlns:a16="http://schemas.microsoft.com/office/drawing/2014/main" id="{D3CD69BB-4B99-4694-D18D-FA0B74EC3405}"/>
              </a:ext>
            </a:extLst>
          </p:cNvPr>
          <p:cNvSpPr>
            <a:spLocks noChangeArrowheads="1"/>
          </p:cNvSpPr>
          <p:nvPr/>
        </p:nvSpPr>
        <p:spPr bwMode="auto">
          <a:xfrm>
            <a:off x="4113847" y="1240463"/>
            <a:ext cx="273844" cy="122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1000" b="1" dirty="0">
                <a:solidFill>
                  <a:srgbClr val="8E44AD"/>
                </a:solidFill>
                <a:latin typeface="Times New Roman" panose="02020603050405020304" pitchFamily="18" charset="0"/>
                <a:cs typeface="Times New Roman" panose="02020603050405020304" pitchFamily="18" charset="0"/>
              </a:rPr>
              <a:t>▼</a:t>
            </a:r>
          </a:p>
        </p:txBody>
      </p:sp>
      <p:sp>
        <p:nvSpPr>
          <p:cNvPr id="3083" name="Rectangle 11">
            <a:extLst>
              <a:ext uri="{FF2B5EF4-FFF2-40B4-BE49-F238E27FC236}">
                <a16:creationId xmlns:a16="http://schemas.microsoft.com/office/drawing/2014/main" id="{CB572F24-D9DA-1CB6-C079-1A2941CE3499}"/>
              </a:ext>
            </a:extLst>
          </p:cNvPr>
          <p:cNvSpPr>
            <a:spLocks noChangeArrowheads="1"/>
          </p:cNvSpPr>
          <p:nvPr/>
        </p:nvSpPr>
        <p:spPr bwMode="auto">
          <a:xfrm>
            <a:off x="2267189" y="1374254"/>
            <a:ext cx="4943424" cy="561975"/>
          </a:xfrm>
          <a:prstGeom prst="rect">
            <a:avLst/>
          </a:prstGeom>
          <a:solidFill>
            <a:srgbClr val="12244A"/>
          </a:solidFill>
          <a:ln w="19080" cap="flat">
            <a:solidFill>
              <a:srgbClr val="8E44AD"/>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dirty="0">
              <a:solidFill>
                <a:srgbClr val="000000"/>
              </a:solidFill>
              <a:latin typeface="Times New Roman" panose="02020603050405020304" pitchFamily="18" charset="0"/>
              <a:cs typeface="Times New Roman" panose="02020603050405020304" pitchFamily="18" charset="0"/>
            </a:endParaRPr>
          </a:p>
        </p:txBody>
      </p:sp>
      <p:sp>
        <p:nvSpPr>
          <p:cNvPr id="3085" name="Rectangle 13">
            <a:extLst>
              <a:ext uri="{FF2B5EF4-FFF2-40B4-BE49-F238E27FC236}">
                <a16:creationId xmlns:a16="http://schemas.microsoft.com/office/drawing/2014/main" id="{0CE5114B-E0A7-91A7-0A1C-0B9539497390}"/>
              </a:ext>
            </a:extLst>
          </p:cNvPr>
          <p:cNvSpPr>
            <a:spLocks noChangeArrowheads="1"/>
          </p:cNvSpPr>
          <p:nvPr/>
        </p:nvSpPr>
        <p:spPr bwMode="auto">
          <a:xfrm>
            <a:off x="2371129" y="1505223"/>
            <a:ext cx="301229" cy="301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2400" b="1" dirty="0">
                <a:solidFill>
                  <a:srgbClr val="8E44AD"/>
                </a:solidFill>
                <a:latin typeface="Times New Roman" panose="02020603050405020304" pitchFamily="18" charset="0"/>
                <a:cs typeface="Times New Roman" panose="02020603050405020304" pitchFamily="18" charset="0"/>
              </a:rPr>
              <a:t>2</a:t>
            </a:r>
          </a:p>
        </p:txBody>
      </p:sp>
      <p:sp>
        <p:nvSpPr>
          <p:cNvPr id="3086" name="Rectangle 14">
            <a:extLst>
              <a:ext uri="{FF2B5EF4-FFF2-40B4-BE49-F238E27FC236}">
                <a16:creationId xmlns:a16="http://schemas.microsoft.com/office/drawing/2014/main" id="{3913DD11-840A-500D-AB8D-68AB133E3E14}"/>
              </a:ext>
            </a:extLst>
          </p:cNvPr>
          <p:cNvSpPr>
            <a:spLocks noChangeArrowheads="1"/>
          </p:cNvSpPr>
          <p:nvPr/>
        </p:nvSpPr>
        <p:spPr bwMode="auto">
          <a:xfrm>
            <a:off x="2697004" y="1368301"/>
            <a:ext cx="3634979" cy="273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600" b="1" dirty="0">
                <a:solidFill>
                  <a:srgbClr val="8E44AD"/>
                </a:solidFill>
                <a:latin typeface="Times New Roman" panose="02020603050405020304" pitchFamily="18" charset="0"/>
                <a:cs typeface="Times New Roman" panose="02020603050405020304" pitchFamily="18" charset="0"/>
              </a:rPr>
              <a:t>FLASK WEB INTERFACE</a:t>
            </a:r>
          </a:p>
        </p:txBody>
      </p:sp>
      <p:sp>
        <p:nvSpPr>
          <p:cNvPr id="3087" name="Rectangle 15">
            <a:extLst>
              <a:ext uri="{FF2B5EF4-FFF2-40B4-BE49-F238E27FC236}">
                <a16:creationId xmlns:a16="http://schemas.microsoft.com/office/drawing/2014/main" id="{2918D50F-C0C9-B1C8-DC49-B0B131240E03}"/>
              </a:ext>
            </a:extLst>
          </p:cNvPr>
          <p:cNvSpPr>
            <a:spLocks noChangeArrowheads="1"/>
          </p:cNvSpPr>
          <p:nvPr/>
        </p:nvSpPr>
        <p:spPr bwMode="auto">
          <a:xfrm>
            <a:off x="2697004" y="1646109"/>
            <a:ext cx="4354115" cy="246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500" dirty="0">
                <a:solidFill>
                  <a:srgbClr val="FFFFFF"/>
                </a:solidFill>
                <a:latin typeface="Times New Roman" panose="02020603050405020304" pitchFamily="18" charset="0"/>
                <a:cs typeface="Times New Roman" panose="02020603050405020304" pitchFamily="18" charset="0"/>
              </a:rPr>
              <a:t>Chat interface • User query</a:t>
            </a:r>
          </a:p>
        </p:txBody>
      </p:sp>
      <p:sp>
        <p:nvSpPr>
          <p:cNvPr id="3088" name="Rectangle 16">
            <a:extLst>
              <a:ext uri="{FF2B5EF4-FFF2-40B4-BE49-F238E27FC236}">
                <a16:creationId xmlns:a16="http://schemas.microsoft.com/office/drawing/2014/main" id="{DEA524ED-4A57-1053-CBC3-8C364C75D5E1}"/>
              </a:ext>
            </a:extLst>
          </p:cNvPr>
          <p:cNvSpPr>
            <a:spLocks noChangeArrowheads="1"/>
          </p:cNvSpPr>
          <p:nvPr/>
        </p:nvSpPr>
        <p:spPr bwMode="auto">
          <a:xfrm>
            <a:off x="4118729" y="1960672"/>
            <a:ext cx="273844" cy="122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1100" b="1" dirty="0">
                <a:solidFill>
                  <a:srgbClr val="F5A623"/>
                </a:solidFill>
                <a:latin typeface="Times New Roman" panose="02020603050405020304" pitchFamily="18" charset="0"/>
                <a:cs typeface="Times New Roman" panose="02020603050405020304" pitchFamily="18" charset="0"/>
              </a:rPr>
              <a:t>▼</a:t>
            </a:r>
          </a:p>
        </p:txBody>
      </p:sp>
      <p:sp>
        <p:nvSpPr>
          <p:cNvPr id="3090" name="Rectangle 18">
            <a:extLst>
              <a:ext uri="{FF2B5EF4-FFF2-40B4-BE49-F238E27FC236}">
                <a16:creationId xmlns:a16="http://schemas.microsoft.com/office/drawing/2014/main" id="{532BC964-38E4-CD87-0848-C6116766D612}"/>
              </a:ext>
            </a:extLst>
          </p:cNvPr>
          <p:cNvSpPr>
            <a:spLocks noChangeArrowheads="1"/>
          </p:cNvSpPr>
          <p:nvPr/>
        </p:nvSpPr>
        <p:spPr bwMode="auto">
          <a:xfrm>
            <a:off x="2282429" y="2095773"/>
            <a:ext cx="4927044" cy="561975"/>
          </a:xfrm>
          <a:prstGeom prst="rect">
            <a:avLst/>
          </a:prstGeom>
          <a:solidFill>
            <a:srgbClr val="12244A"/>
          </a:solidFill>
          <a:ln w="19080" cap="flat">
            <a:solidFill>
              <a:srgbClr val="F5A62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092" name="Rectangle 20">
            <a:extLst>
              <a:ext uri="{FF2B5EF4-FFF2-40B4-BE49-F238E27FC236}">
                <a16:creationId xmlns:a16="http://schemas.microsoft.com/office/drawing/2014/main" id="{418D71F3-54CD-D3F9-9B3E-66F68B5F035B}"/>
              </a:ext>
            </a:extLst>
          </p:cNvPr>
          <p:cNvSpPr>
            <a:spLocks noChangeArrowheads="1"/>
          </p:cNvSpPr>
          <p:nvPr/>
        </p:nvSpPr>
        <p:spPr bwMode="auto">
          <a:xfrm>
            <a:off x="2379861" y="2225552"/>
            <a:ext cx="317143" cy="301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2400" b="1" dirty="0">
                <a:solidFill>
                  <a:srgbClr val="F5A623"/>
                </a:solidFill>
                <a:latin typeface="Times New Roman" panose="02020603050405020304" pitchFamily="18" charset="0"/>
                <a:cs typeface="Times New Roman" panose="02020603050405020304" pitchFamily="18" charset="0"/>
              </a:rPr>
              <a:t>3</a:t>
            </a:r>
          </a:p>
        </p:txBody>
      </p:sp>
      <p:sp>
        <p:nvSpPr>
          <p:cNvPr id="3093" name="Rectangle 21">
            <a:extLst>
              <a:ext uri="{FF2B5EF4-FFF2-40B4-BE49-F238E27FC236}">
                <a16:creationId xmlns:a16="http://schemas.microsoft.com/office/drawing/2014/main" id="{47F4CFDE-19CB-65D3-0CDE-CF101E3333D7}"/>
              </a:ext>
            </a:extLst>
          </p:cNvPr>
          <p:cNvSpPr>
            <a:spLocks noChangeArrowheads="1"/>
          </p:cNvSpPr>
          <p:nvPr/>
        </p:nvSpPr>
        <p:spPr bwMode="auto">
          <a:xfrm>
            <a:off x="2704624" y="2136255"/>
            <a:ext cx="3827016" cy="273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600" b="1" dirty="0">
                <a:solidFill>
                  <a:srgbClr val="F5A623"/>
                </a:solidFill>
                <a:latin typeface="Times New Roman" panose="02020603050405020304" pitchFamily="18" charset="0"/>
                <a:cs typeface="Times New Roman" panose="02020603050405020304" pitchFamily="18" charset="0"/>
              </a:rPr>
              <a:t>ROLE DETECTION</a:t>
            </a:r>
          </a:p>
        </p:txBody>
      </p:sp>
      <p:sp>
        <p:nvSpPr>
          <p:cNvPr id="3094" name="Rectangle 22">
            <a:extLst>
              <a:ext uri="{FF2B5EF4-FFF2-40B4-BE49-F238E27FC236}">
                <a16:creationId xmlns:a16="http://schemas.microsoft.com/office/drawing/2014/main" id="{5049DCF3-B1DD-61CB-0D89-9C116CCBC4FC}"/>
              </a:ext>
            </a:extLst>
          </p:cNvPr>
          <p:cNvSpPr>
            <a:spLocks noChangeArrowheads="1"/>
          </p:cNvSpPr>
          <p:nvPr/>
        </p:nvSpPr>
        <p:spPr bwMode="auto">
          <a:xfrm>
            <a:off x="2704623" y="2383905"/>
            <a:ext cx="4481989" cy="246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500" dirty="0">
                <a:solidFill>
                  <a:srgbClr val="FFFFFF"/>
                </a:solidFill>
                <a:latin typeface="Times New Roman" panose="02020603050405020304" pitchFamily="18" charset="0"/>
                <a:cs typeface="Times New Roman" panose="02020603050405020304" pitchFamily="18" charset="0"/>
              </a:rPr>
              <a:t>Identifies the user's role by matching keyword</a:t>
            </a:r>
          </a:p>
        </p:txBody>
      </p:sp>
      <p:sp>
        <p:nvSpPr>
          <p:cNvPr id="3095" name="Rectangle 23">
            <a:extLst>
              <a:ext uri="{FF2B5EF4-FFF2-40B4-BE49-F238E27FC236}">
                <a16:creationId xmlns:a16="http://schemas.microsoft.com/office/drawing/2014/main" id="{847E6FA8-A6C1-F334-4E02-7DA3936A564F}"/>
              </a:ext>
            </a:extLst>
          </p:cNvPr>
          <p:cNvSpPr>
            <a:spLocks noChangeArrowheads="1"/>
          </p:cNvSpPr>
          <p:nvPr/>
        </p:nvSpPr>
        <p:spPr bwMode="auto">
          <a:xfrm>
            <a:off x="4123967" y="2681834"/>
            <a:ext cx="273844" cy="122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1000" b="1" dirty="0">
                <a:solidFill>
                  <a:srgbClr val="27AE60"/>
                </a:solidFill>
                <a:latin typeface="Times New Roman" panose="02020603050405020304" pitchFamily="18" charset="0"/>
                <a:cs typeface="Times New Roman" panose="02020603050405020304" pitchFamily="18" charset="0"/>
              </a:rPr>
              <a:t>▼</a:t>
            </a:r>
          </a:p>
        </p:txBody>
      </p:sp>
      <p:sp>
        <p:nvSpPr>
          <p:cNvPr id="3097" name="Rectangle 25">
            <a:extLst>
              <a:ext uri="{FF2B5EF4-FFF2-40B4-BE49-F238E27FC236}">
                <a16:creationId xmlns:a16="http://schemas.microsoft.com/office/drawing/2014/main" id="{01A4F319-CF13-10C1-80F8-74D4CBC16598}"/>
              </a:ext>
            </a:extLst>
          </p:cNvPr>
          <p:cNvSpPr>
            <a:spLocks noChangeArrowheads="1"/>
          </p:cNvSpPr>
          <p:nvPr/>
        </p:nvSpPr>
        <p:spPr bwMode="auto">
          <a:xfrm>
            <a:off x="2265997" y="2838962"/>
            <a:ext cx="4927044" cy="561975"/>
          </a:xfrm>
          <a:prstGeom prst="rect">
            <a:avLst/>
          </a:prstGeom>
          <a:solidFill>
            <a:srgbClr val="12244A"/>
          </a:solidFill>
          <a:ln w="19080" cap="flat">
            <a:solidFill>
              <a:srgbClr val="27AE6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099" name="Rectangle 27">
            <a:extLst>
              <a:ext uri="{FF2B5EF4-FFF2-40B4-BE49-F238E27FC236}">
                <a16:creationId xmlns:a16="http://schemas.microsoft.com/office/drawing/2014/main" id="{351164F4-3277-BAA5-496F-74823F93602E}"/>
              </a:ext>
            </a:extLst>
          </p:cNvPr>
          <p:cNvSpPr>
            <a:spLocks noChangeArrowheads="1"/>
          </p:cNvSpPr>
          <p:nvPr/>
        </p:nvSpPr>
        <p:spPr bwMode="auto">
          <a:xfrm>
            <a:off x="2390965" y="2923019"/>
            <a:ext cx="301229" cy="301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2400" b="1" dirty="0">
                <a:solidFill>
                  <a:srgbClr val="27AE60"/>
                </a:solidFill>
                <a:latin typeface="Times New Roman" panose="02020603050405020304" pitchFamily="18" charset="0"/>
                <a:cs typeface="Times New Roman" panose="02020603050405020304" pitchFamily="18" charset="0"/>
              </a:rPr>
              <a:t>4</a:t>
            </a:r>
          </a:p>
        </p:txBody>
      </p:sp>
      <p:sp>
        <p:nvSpPr>
          <p:cNvPr id="3100" name="Rectangle 28">
            <a:extLst>
              <a:ext uri="{FF2B5EF4-FFF2-40B4-BE49-F238E27FC236}">
                <a16:creationId xmlns:a16="http://schemas.microsoft.com/office/drawing/2014/main" id="{258C1648-D6DF-9F51-3A22-3C824E4F8137}"/>
              </a:ext>
            </a:extLst>
          </p:cNvPr>
          <p:cNvSpPr>
            <a:spLocks noChangeArrowheads="1"/>
          </p:cNvSpPr>
          <p:nvPr/>
        </p:nvSpPr>
        <p:spPr bwMode="auto">
          <a:xfrm>
            <a:off x="2719864" y="2880633"/>
            <a:ext cx="4019787" cy="273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600" b="1" dirty="0">
                <a:solidFill>
                  <a:srgbClr val="27AE60"/>
                </a:solidFill>
                <a:latin typeface="Times New Roman" panose="02020603050405020304" pitchFamily="18" charset="0"/>
                <a:cs typeface="Times New Roman" panose="02020603050405020304" pitchFamily="18" charset="0"/>
              </a:rPr>
              <a:t>RAG PIPELINE + KNOWLEDGE BASE</a:t>
            </a:r>
          </a:p>
        </p:txBody>
      </p:sp>
      <p:sp>
        <p:nvSpPr>
          <p:cNvPr id="3101" name="Rectangle 29">
            <a:extLst>
              <a:ext uri="{FF2B5EF4-FFF2-40B4-BE49-F238E27FC236}">
                <a16:creationId xmlns:a16="http://schemas.microsoft.com/office/drawing/2014/main" id="{2C79358D-4962-1B62-49E0-04BC6E5D494D}"/>
              </a:ext>
            </a:extLst>
          </p:cNvPr>
          <p:cNvSpPr>
            <a:spLocks noChangeArrowheads="1"/>
          </p:cNvSpPr>
          <p:nvPr/>
        </p:nvSpPr>
        <p:spPr bwMode="auto">
          <a:xfrm>
            <a:off x="2719864" y="3127093"/>
            <a:ext cx="4511516" cy="2464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500" dirty="0">
                <a:solidFill>
                  <a:srgbClr val="FFFFFF"/>
                </a:solidFill>
                <a:latin typeface="Times New Roman" panose="02020603050405020304" pitchFamily="18" charset="0"/>
                <a:cs typeface="Times New Roman" panose="02020603050405020304" pitchFamily="18" charset="0"/>
              </a:rPr>
              <a:t>Retrieves docs: Safety · Training · Troubleshooting</a:t>
            </a:r>
          </a:p>
        </p:txBody>
      </p:sp>
      <p:sp>
        <p:nvSpPr>
          <p:cNvPr id="3102" name="Rectangle 30">
            <a:extLst>
              <a:ext uri="{FF2B5EF4-FFF2-40B4-BE49-F238E27FC236}">
                <a16:creationId xmlns:a16="http://schemas.microsoft.com/office/drawing/2014/main" id="{82582C1A-D1EA-1D3C-2B83-9406B8D87D07}"/>
              </a:ext>
            </a:extLst>
          </p:cNvPr>
          <p:cNvSpPr>
            <a:spLocks noChangeArrowheads="1"/>
          </p:cNvSpPr>
          <p:nvPr/>
        </p:nvSpPr>
        <p:spPr bwMode="auto">
          <a:xfrm>
            <a:off x="4113847" y="3426510"/>
            <a:ext cx="273844" cy="122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1000" b="1" dirty="0">
                <a:solidFill>
                  <a:srgbClr val="C0392B"/>
                </a:solidFill>
                <a:latin typeface="Times New Roman" panose="02020603050405020304" pitchFamily="18" charset="0"/>
                <a:cs typeface="Times New Roman" panose="02020603050405020304" pitchFamily="18" charset="0"/>
              </a:rPr>
              <a:t>▼</a:t>
            </a:r>
          </a:p>
        </p:txBody>
      </p:sp>
      <p:sp>
        <p:nvSpPr>
          <p:cNvPr id="3104" name="Rectangle 32">
            <a:extLst>
              <a:ext uri="{FF2B5EF4-FFF2-40B4-BE49-F238E27FC236}">
                <a16:creationId xmlns:a16="http://schemas.microsoft.com/office/drawing/2014/main" id="{F1C4C38E-84E4-3062-5F8B-696BDD67ABD5}"/>
              </a:ext>
            </a:extLst>
          </p:cNvPr>
          <p:cNvSpPr>
            <a:spLocks noChangeArrowheads="1"/>
          </p:cNvSpPr>
          <p:nvPr/>
        </p:nvSpPr>
        <p:spPr bwMode="auto">
          <a:xfrm>
            <a:off x="2259569" y="3551669"/>
            <a:ext cx="4927044" cy="561975"/>
          </a:xfrm>
          <a:prstGeom prst="rect">
            <a:avLst/>
          </a:prstGeom>
          <a:solidFill>
            <a:srgbClr val="12244A"/>
          </a:solidFill>
          <a:ln w="19080" cap="flat">
            <a:solidFill>
              <a:srgbClr val="C0392B"/>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106" name="Rectangle 34">
            <a:extLst>
              <a:ext uri="{FF2B5EF4-FFF2-40B4-BE49-F238E27FC236}">
                <a16:creationId xmlns:a16="http://schemas.microsoft.com/office/drawing/2014/main" id="{196BCA5A-EEC3-CE70-21AD-B7387FFCB1EB}"/>
              </a:ext>
            </a:extLst>
          </p:cNvPr>
          <p:cNvSpPr>
            <a:spLocks noChangeArrowheads="1"/>
          </p:cNvSpPr>
          <p:nvPr/>
        </p:nvSpPr>
        <p:spPr bwMode="auto">
          <a:xfrm>
            <a:off x="2368105" y="3682638"/>
            <a:ext cx="301229" cy="301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2400" b="1" dirty="0">
                <a:solidFill>
                  <a:srgbClr val="C0392B"/>
                </a:solidFill>
                <a:latin typeface="Times New Roman" panose="02020603050405020304" pitchFamily="18" charset="0"/>
                <a:cs typeface="Times New Roman" panose="02020603050405020304" pitchFamily="18" charset="0"/>
              </a:rPr>
              <a:t>5</a:t>
            </a:r>
          </a:p>
        </p:txBody>
      </p:sp>
      <p:sp>
        <p:nvSpPr>
          <p:cNvPr id="3107" name="Rectangle 35">
            <a:extLst>
              <a:ext uri="{FF2B5EF4-FFF2-40B4-BE49-F238E27FC236}">
                <a16:creationId xmlns:a16="http://schemas.microsoft.com/office/drawing/2014/main" id="{CE959F13-A1CA-D474-B095-59A0CD8E432F}"/>
              </a:ext>
            </a:extLst>
          </p:cNvPr>
          <p:cNvSpPr>
            <a:spLocks noChangeArrowheads="1"/>
          </p:cNvSpPr>
          <p:nvPr/>
        </p:nvSpPr>
        <p:spPr bwMode="auto">
          <a:xfrm>
            <a:off x="2697004" y="3593342"/>
            <a:ext cx="3634979" cy="273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600" b="1" dirty="0">
                <a:solidFill>
                  <a:srgbClr val="C0392B"/>
                </a:solidFill>
                <a:latin typeface="Times New Roman" panose="02020603050405020304" pitchFamily="18" charset="0"/>
                <a:cs typeface="Times New Roman" panose="02020603050405020304" pitchFamily="18" charset="0"/>
              </a:rPr>
              <a:t>GROQ API  (LLAMA 3.3 70B)</a:t>
            </a:r>
          </a:p>
        </p:txBody>
      </p:sp>
      <p:sp>
        <p:nvSpPr>
          <p:cNvPr id="3108" name="Rectangle 36">
            <a:extLst>
              <a:ext uri="{FF2B5EF4-FFF2-40B4-BE49-F238E27FC236}">
                <a16:creationId xmlns:a16="http://schemas.microsoft.com/office/drawing/2014/main" id="{897C0B05-6363-0503-99A9-D7CEB46EECFD}"/>
              </a:ext>
            </a:extLst>
          </p:cNvPr>
          <p:cNvSpPr>
            <a:spLocks noChangeArrowheads="1"/>
          </p:cNvSpPr>
          <p:nvPr/>
        </p:nvSpPr>
        <p:spPr bwMode="auto">
          <a:xfrm>
            <a:off x="2697004" y="3839801"/>
            <a:ext cx="4042647" cy="246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500" dirty="0">
                <a:solidFill>
                  <a:srgbClr val="FFFFFF"/>
                </a:solidFill>
                <a:latin typeface="Times New Roman" panose="02020603050405020304" pitchFamily="18" charset="0"/>
                <a:cs typeface="Times New Roman" panose="02020603050405020304" pitchFamily="18" charset="0"/>
              </a:rPr>
              <a:t>Generates a clear, role-specific response</a:t>
            </a:r>
          </a:p>
        </p:txBody>
      </p:sp>
      <p:sp>
        <p:nvSpPr>
          <p:cNvPr id="3109" name="Rectangle 37">
            <a:extLst>
              <a:ext uri="{FF2B5EF4-FFF2-40B4-BE49-F238E27FC236}">
                <a16:creationId xmlns:a16="http://schemas.microsoft.com/office/drawing/2014/main" id="{9CB376E3-B7A0-6DD8-6318-4A5001439793}"/>
              </a:ext>
            </a:extLst>
          </p:cNvPr>
          <p:cNvSpPr>
            <a:spLocks noChangeArrowheads="1"/>
          </p:cNvSpPr>
          <p:nvPr/>
        </p:nvSpPr>
        <p:spPr bwMode="auto">
          <a:xfrm>
            <a:off x="4109800" y="4138648"/>
            <a:ext cx="273844" cy="122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1000" b="1" dirty="0">
                <a:solidFill>
                  <a:srgbClr val="F5A623"/>
                </a:solidFill>
                <a:latin typeface="Times New Roman" panose="02020603050405020304" pitchFamily="18" charset="0"/>
                <a:cs typeface="Times New Roman" panose="02020603050405020304" pitchFamily="18" charset="0"/>
              </a:rPr>
              <a:t>▼</a:t>
            </a:r>
          </a:p>
        </p:txBody>
      </p:sp>
      <p:sp>
        <p:nvSpPr>
          <p:cNvPr id="3111" name="Rectangle 39">
            <a:extLst>
              <a:ext uri="{FF2B5EF4-FFF2-40B4-BE49-F238E27FC236}">
                <a16:creationId xmlns:a16="http://schemas.microsoft.com/office/drawing/2014/main" id="{3C7FA471-C06E-5C59-37A7-5B7E9906D2A9}"/>
              </a:ext>
            </a:extLst>
          </p:cNvPr>
          <p:cNvSpPr>
            <a:spLocks noChangeArrowheads="1"/>
          </p:cNvSpPr>
          <p:nvPr/>
        </p:nvSpPr>
        <p:spPr bwMode="auto">
          <a:xfrm>
            <a:off x="2259568" y="4258543"/>
            <a:ext cx="4933473" cy="561975"/>
          </a:xfrm>
          <a:prstGeom prst="rect">
            <a:avLst/>
          </a:prstGeom>
          <a:solidFill>
            <a:srgbClr val="12244A"/>
          </a:solidFill>
          <a:ln w="19080" cap="flat">
            <a:solidFill>
              <a:srgbClr val="F5A62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113" name="Rectangle 41">
            <a:extLst>
              <a:ext uri="{FF2B5EF4-FFF2-40B4-BE49-F238E27FC236}">
                <a16:creationId xmlns:a16="http://schemas.microsoft.com/office/drawing/2014/main" id="{0C374282-F0B3-0436-F43E-D34739EC9742}"/>
              </a:ext>
            </a:extLst>
          </p:cNvPr>
          <p:cNvSpPr>
            <a:spLocks noChangeArrowheads="1"/>
          </p:cNvSpPr>
          <p:nvPr/>
        </p:nvSpPr>
        <p:spPr bwMode="auto">
          <a:xfrm>
            <a:off x="2368105" y="4388917"/>
            <a:ext cx="301229" cy="301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Lst>
              <a:defRPr>
                <a:solidFill>
                  <a:srgbClr val="000000"/>
                </a:solidFill>
                <a:latin typeface="Arial" panose="020B0604020202020204" pitchFamily="34" charset="0"/>
                <a:cs typeface="Noto Sans CJK SC" charset="0"/>
              </a:defRPr>
            </a:lvl1pPr>
            <a:lvl2pPr>
              <a:tabLst>
                <a:tab pos="0" algn="l"/>
              </a:tabLst>
              <a:defRPr>
                <a:solidFill>
                  <a:srgbClr val="000000"/>
                </a:solidFill>
                <a:latin typeface="Arial" panose="020B0604020202020204" pitchFamily="34" charset="0"/>
                <a:cs typeface="Noto Sans CJK SC" charset="0"/>
              </a:defRPr>
            </a:lvl2pPr>
            <a:lvl3pPr>
              <a:tabLst>
                <a:tab pos="0" algn="l"/>
              </a:tabLst>
              <a:defRPr>
                <a:solidFill>
                  <a:srgbClr val="000000"/>
                </a:solidFill>
                <a:latin typeface="Arial" panose="020B0604020202020204" pitchFamily="34" charset="0"/>
                <a:cs typeface="Noto Sans CJK SC" charset="0"/>
              </a:defRPr>
            </a:lvl3pPr>
            <a:lvl4pPr>
              <a:tabLst>
                <a:tab pos="0" algn="l"/>
              </a:tabLst>
              <a:defRPr>
                <a:solidFill>
                  <a:srgbClr val="000000"/>
                </a:solidFill>
                <a:latin typeface="Arial" panose="020B0604020202020204" pitchFamily="34" charset="0"/>
                <a:cs typeface="Noto Sans CJK SC" charset="0"/>
              </a:defRPr>
            </a:lvl4pPr>
            <a:lvl5pPr>
              <a:tabLst>
                <a:tab pos="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pPr>
            <a:r>
              <a:rPr lang="en-US" altLang="en-US" sz="2400" b="1" dirty="0">
                <a:solidFill>
                  <a:srgbClr val="F5A623"/>
                </a:solidFill>
                <a:latin typeface="Times New Roman" panose="02020603050405020304" pitchFamily="18" charset="0"/>
                <a:cs typeface="Times New Roman" panose="02020603050405020304" pitchFamily="18" charset="0"/>
              </a:rPr>
              <a:t>6</a:t>
            </a:r>
          </a:p>
        </p:txBody>
      </p:sp>
      <p:sp>
        <p:nvSpPr>
          <p:cNvPr id="3114" name="Rectangle 42">
            <a:extLst>
              <a:ext uri="{FF2B5EF4-FFF2-40B4-BE49-F238E27FC236}">
                <a16:creationId xmlns:a16="http://schemas.microsoft.com/office/drawing/2014/main" id="{1FA6161F-F992-E4E5-7D2D-134D973AA337}"/>
              </a:ext>
            </a:extLst>
          </p:cNvPr>
          <p:cNvSpPr>
            <a:spLocks noChangeArrowheads="1"/>
          </p:cNvSpPr>
          <p:nvPr/>
        </p:nvSpPr>
        <p:spPr bwMode="auto">
          <a:xfrm>
            <a:off x="2697004" y="4298430"/>
            <a:ext cx="4142708" cy="273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US" altLang="en-US" sz="1600" b="1" dirty="0">
                <a:solidFill>
                  <a:srgbClr val="F5A623"/>
                </a:solidFill>
                <a:latin typeface="Times New Roman" panose="02020603050405020304" pitchFamily="18" charset="0"/>
                <a:cs typeface="Times New Roman" panose="02020603050405020304" pitchFamily="18" charset="0"/>
              </a:rPr>
              <a:t>PERSONALISED RESPONSE + SOURCE</a:t>
            </a:r>
          </a:p>
        </p:txBody>
      </p:sp>
      <p:sp>
        <p:nvSpPr>
          <p:cNvPr id="3115" name="Rectangle 43">
            <a:extLst>
              <a:ext uri="{FF2B5EF4-FFF2-40B4-BE49-F238E27FC236}">
                <a16:creationId xmlns:a16="http://schemas.microsoft.com/office/drawing/2014/main" id="{B38F07D3-E9D2-933D-B378-28AEB3D2DD05}"/>
              </a:ext>
            </a:extLst>
          </p:cNvPr>
          <p:cNvSpPr>
            <a:spLocks noChangeArrowheads="1"/>
          </p:cNvSpPr>
          <p:nvPr/>
        </p:nvSpPr>
        <p:spPr bwMode="auto">
          <a:xfrm>
            <a:off x="2697004" y="4546080"/>
            <a:ext cx="4782264" cy="246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Lst>
              <a:defRPr>
                <a:solidFill>
                  <a:srgbClr val="000000"/>
                </a:solidFill>
                <a:latin typeface="Arial" panose="020B0604020202020204" pitchFamily="34" charset="0"/>
                <a:cs typeface="Noto Sans CJK SC" charset="0"/>
              </a:defRPr>
            </a:lvl9pPr>
          </a:lstStyle>
          <a:p>
            <a:pPr defTabSz="685800" fontAlgn="base">
              <a:spcBef>
                <a:spcPts val="10"/>
              </a:spcBef>
              <a:spcAft>
                <a:spcPts val="10"/>
              </a:spcAft>
              <a:buClr>
                <a:srgbClr val="000000"/>
              </a:buClr>
              <a:buSzPct val="100000"/>
              <a:tabLst>
                <a:tab pos="0" algn="l"/>
                <a:tab pos="685800" algn="l"/>
                <a:tab pos="1371600" algn="l"/>
                <a:tab pos="2057400" algn="l"/>
                <a:tab pos="2743200" algn="l"/>
                <a:tab pos="3429000" algn="l"/>
              </a:tabLst>
            </a:pPr>
            <a:r>
              <a:rPr lang="en-IN" altLang="en-US" sz="1500" dirty="0">
                <a:solidFill>
                  <a:srgbClr val="FFFFFF"/>
                </a:solidFill>
                <a:latin typeface="Times New Roman" panose="02020603050405020304" pitchFamily="18" charset="0"/>
                <a:cs typeface="Times New Roman" panose="02020603050405020304" pitchFamily="18" charset="0"/>
              </a:rPr>
              <a:t>Provides a role-based answer with the source document</a:t>
            </a:r>
            <a:endParaRPr lang="en-US" altLang="en-US" sz="1500" dirty="0">
              <a:solidFill>
                <a:srgbClr val="FFFFFF"/>
              </a:solidFill>
              <a:latin typeface="Times New Roman" panose="02020603050405020304" pitchFamily="18" charset="0"/>
              <a:cs typeface="Times New Roman" panose="02020603050405020304" pitchFamily="18" charset="0"/>
            </a:endParaRPr>
          </a:p>
        </p:txBody>
      </p:sp>
      <p:sp>
        <p:nvSpPr>
          <p:cNvPr id="3116" name="Rectangle 44">
            <a:extLst>
              <a:ext uri="{FF2B5EF4-FFF2-40B4-BE49-F238E27FC236}">
                <a16:creationId xmlns:a16="http://schemas.microsoft.com/office/drawing/2014/main" id="{772ADBE4-8154-6170-4B18-E6A6A38A3B66}"/>
              </a:ext>
            </a:extLst>
          </p:cNvPr>
          <p:cNvSpPr>
            <a:spLocks noChangeArrowheads="1"/>
          </p:cNvSpPr>
          <p:nvPr/>
        </p:nvSpPr>
        <p:spPr bwMode="auto">
          <a:xfrm>
            <a:off x="342900" y="684407"/>
            <a:ext cx="1749029" cy="1206103"/>
          </a:xfrm>
          <a:prstGeom prst="rect">
            <a:avLst/>
          </a:prstGeom>
          <a:solidFill>
            <a:srgbClr val="0B1930"/>
          </a:solidFill>
          <a:ln w="19080" cap="flat">
            <a:solidFill>
              <a:srgbClr val="2E86DE"/>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117" name="Rectangle 45">
            <a:extLst>
              <a:ext uri="{FF2B5EF4-FFF2-40B4-BE49-F238E27FC236}">
                <a16:creationId xmlns:a16="http://schemas.microsoft.com/office/drawing/2014/main" id="{78B663A8-F24C-ECDC-DCB7-B75ACB657824}"/>
              </a:ext>
            </a:extLst>
          </p:cNvPr>
          <p:cNvSpPr>
            <a:spLocks noChangeArrowheads="1"/>
          </p:cNvSpPr>
          <p:nvPr/>
        </p:nvSpPr>
        <p:spPr bwMode="auto">
          <a:xfrm>
            <a:off x="405886" y="710327"/>
            <a:ext cx="1621868"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Lst>
              <a:defRPr>
                <a:solidFill>
                  <a:srgbClr val="000000"/>
                </a:solidFill>
                <a:latin typeface="Arial" panose="020B0604020202020204" pitchFamily="34" charset="0"/>
                <a:cs typeface="Noto Sans CJK SC" charset="0"/>
              </a:defRPr>
            </a:lvl1pPr>
            <a:lvl2pPr>
              <a:tabLst>
                <a:tab pos="0" algn="l"/>
                <a:tab pos="914400" algn="l"/>
                <a:tab pos="1828800" algn="l"/>
              </a:tabLst>
              <a:defRPr>
                <a:solidFill>
                  <a:srgbClr val="000000"/>
                </a:solidFill>
                <a:latin typeface="Arial" panose="020B0604020202020204" pitchFamily="34" charset="0"/>
                <a:cs typeface="Noto Sans CJK SC" charset="0"/>
              </a:defRPr>
            </a:lvl2pPr>
            <a:lvl3pPr>
              <a:tabLst>
                <a:tab pos="0" algn="l"/>
                <a:tab pos="914400" algn="l"/>
                <a:tab pos="1828800" algn="l"/>
              </a:tabLst>
              <a:defRPr>
                <a:solidFill>
                  <a:srgbClr val="000000"/>
                </a:solidFill>
                <a:latin typeface="Arial" panose="020B0604020202020204" pitchFamily="34" charset="0"/>
                <a:cs typeface="Noto Sans CJK SC" charset="0"/>
              </a:defRPr>
            </a:lvl3pPr>
            <a:lvl4pPr>
              <a:tabLst>
                <a:tab pos="0" algn="l"/>
                <a:tab pos="914400" algn="l"/>
                <a:tab pos="1828800" algn="l"/>
              </a:tabLst>
              <a:defRPr>
                <a:solidFill>
                  <a:srgbClr val="000000"/>
                </a:solidFill>
                <a:latin typeface="Arial" panose="020B0604020202020204" pitchFamily="34" charset="0"/>
                <a:cs typeface="Noto Sans CJK SC" charset="0"/>
              </a:defRPr>
            </a:lvl4pPr>
            <a:lvl5pPr>
              <a:tabLst>
                <a:tab pos="0" algn="l"/>
                <a:tab pos="914400" algn="l"/>
                <a:tab pos="18288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tabLst>
                <a:tab pos="0" algn="l"/>
                <a:tab pos="685800" algn="l"/>
                <a:tab pos="1371600" algn="l"/>
              </a:tabLst>
            </a:pPr>
            <a:r>
              <a:rPr lang="en-US" altLang="en-US" sz="1600" b="1" dirty="0">
                <a:solidFill>
                  <a:srgbClr val="2E86DE"/>
                </a:solidFill>
                <a:latin typeface="Times New Roman" panose="02020603050405020304" pitchFamily="18" charset="0"/>
                <a:cs typeface="Times New Roman" panose="02020603050405020304" pitchFamily="18" charset="0"/>
              </a:rPr>
              <a:t>INPUT LAYER</a:t>
            </a:r>
          </a:p>
        </p:txBody>
      </p:sp>
      <p:sp>
        <p:nvSpPr>
          <p:cNvPr id="3118" name="Rectangle 46">
            <a:extLst>
              <a:ext uri="{FF2B5EF4-FFF2-40B4-BE49-F238E27FC236}">
                <a16:creationId xmlns:a16="http://schemas.microsoft.com/office/drawing/2014/main" id="{5FECA37C-4609-C77C-7459-63B20F18711E}"/>
              </a:ext>
            </a:extLst>
          </p:cNvPr>
          <p:cNvSpPr>
            <a:spLocks noChangeArrowheads="1"/>
          </p:cNvSpPr>
          <p:nvPr/>
        </p:nvSpPr>
        <p:spPr bwMode="auto">
          <a:xfrm>
            <a:off x="479823" y="995135"/>
            <a:ext cx="1473994"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lstStyle>
            <a:lvl1pPr>
              <a:tabLst>
                <a:tab pos="0" algn="l"/>
                <a:tab pos="914400" algn="l"/>
                <a:tab pos="1828800" algn="l"/>
              </a:tabLst>
              <a:defRPr>
                <a:solidFill>
                  <a:srgbClr val="000000"/>
                </a:solidFill>
                <a:latin typeface="Arial" panose="020B0604020202020204" pitchFamily="34" charset="0"/>
                <a:cs typeface="Noto Sans CJK SC" charset="0"/>
              </a:defRPr>
            </a:lvl1pPr>
            <a:lvl2pPr>
              <a:tabLst>
                <a:tab pos="0" algn="l"/>
                <a:tab pos="914400" algn="l"/>
                <a:tab pos="1828800" algn="l"/>
              </a:tabLst>
              <a:defRPr>
                <a:solidFill>
                  <a:srgbClr val="000000"/>
                </a:solidFill>
                <a:latin typeface="Arial" panose="020B0604020202020204" pitchFamily="34" charset="0"/>
                <a:cs typeface="Noto Sans CJK SC" charset="0"/>
              </a:defRPr>
            </a:lvl2pPr>
            <a:lvl3pPr>
              <a:tabLst>
                <a:tab pos="0" algn="l"/>
                <a:tab pos="914400" algn="l"/>
                <a:tab pos="1828800" algn="l"/>
              </a:tabLst>
              <a:defRPr>
                <a:solidFill>
                  <a:srgbClr val="000000"/>
                </a:solidFill>
                <a:latin typeface="Arial" panose="020B0604020202020204" pitchFamily="34" charset="0"/>
                <a:cs typeface="Noto Sans CJK SC" charset="0"/>
              </a:defRPr>
            </a:lvl3pPr>
            <a:lvl4pPr>
              <a:tabLst>
                <a:tab pos="0" algn="l"/>
                <a:tab pos="914400" algn="l"/>
                <a:tab pos="1828800" algn="l"/>
              </a:tabLst>
              <a:defRPr>
                <a:solidFill>
                  <a:srgbClr val="000000"/>
                </a:solidFill>
                <a:latin typeface="Arial" panose="020B0604020202020204" pitchFamily="34" charset="0"/>
                <a:cs typeface="Noto Sans CJK SC" charset="0"/>
              </a:defRPr>
            </a:lvl4pPr>
            <a:lvl5pPr>
              <a:tabLst>
                <a:tab pos="0" algn="l"/>
                <a:tab pos="914400" algn="l"/>
                <a:tab pos="18288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tabLst>
                <a:tab pos="0" algn="l"/>
                <a:tab pos="685800" algn="l"/>
                <a:tab pos="1371600" algn="l"/>
              </a:tabLst>
            </a:pPr>
            <a:r>
              <a:rPr lang="en-US" altLang="en-US" dirty="0">
                <a:solidFill>
                  <a:srgbClr val="FFFFFF"/>
                </a:solidFill>
                <a:latin typeface="Times New Roman" panose="02020603050405020304" pitchFamily="18" charset="0"/>
                <a:cs typeface="Times New Roman" panose="02020603050405020304" pitchFamily="18" charset="0"/>
              </a:rPr>
              <a:t>User-facing interface &amp; intent capture</a:t>
            </a:r>
          </a:p>
        </p:txBody>
      </p:sp>
      <p:sp>
        <p:nvSpPr>
          <p:cNvPr id="3119" name="Rectangle 47">
            <a:extLst>
              <a:ext uri="{FF2B5EF4-FFF2-40B4-BE49-F238E27FC236}">
                <a16:creationId xmlns:a16="http://schemas.microsoft.com/office/drawing/2014/main" id="{BC224D19-FE01-2999-0485-C772FF23FACD}"/>
              </a:ext>
            </a:extLst>
          </p:cNvPr>
          <p:cNvSpPr>
            <a:spLocks noChangeArrowheads="1"/>
          </p:cNvSpPr>
          <p:nvPr/>
        </p:nvSpPr>
        <p:spPr bwMode="auto">
          <a:xfrm>
            <a:off x="342900" y="3682639"/>
            <a:ext cx="1749029" cy="1164194"/>
          </a:xfrm>
          <a:prstGeom prst="rect">
            <a:avLst/>
          </a:prstGeom>
          <a:solidFill>
            <a:srgbClr val="0B1930"/>
          </a:solidFill>
          <a:ln w="19080" cap="flat">
            <a:solidFill>
              <a:srgbClr val="F5A62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120" name="Rectangle 48">
            <a:extLst>
              <a:ext uri="{FF2B5EF4-FFF2-40B4-BE49-F238E27FC236}">
                <a16:creationId xmlns:a16="http://schemas.microsoft.com/office/drawing/2014/main" id="{CFD0CD15-DC86-FB3D-B615-B5371CB52E91}"/>
              </a:ext>
            </a:extLst>
          </p:cNvPr>
          <p:cNvSpPr>
            <a:spLocks noChangeArrowheads="1"/>
          </p:cNvSpPr>
          <p:nvPr/>
        </p:nvSpPr>
        <p:spPr bwMode="auto">
          <a:xfrm>
            <a:off x="320161" y="3722833"/>
            <a:ext cx="1793318"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Lst>
              <a:defRPr>
                <a:solidFill>
                  <a:srgbClr val="000000"/>
                </a:solidFill>
                <a:latin typeface="Arial" panose="020B0604020202020204" pitchFamily="34" charset="0"/>
                <a:cs typeface="Noto Sans CJK SC" charset="0"/>
              </a:defRPr>
            </a:lvl1pPr>
            <a:lvl2pPr>
              <a:tabLst>
                <a:tab pos="0" algn="l"/>
                <a:tab pos="914400" algn="l"/>
                <a:tab pos="1828800" algn="l"/>
              </a:tabLst>
              <a:defRPr>
                <a:solidFill>
                  <a:srgbClr val="000000"/>
                </a:solidFill>
                <a:latin typeface="Arial" panose="020B0604020202020204" pitchFamily="34" charset="0"/>
                <a:cs typeface="Noto Sans CJK SC" charset="0"/>
              </a:defRPr>
            </a:lvl2pPr>
            <a:lvl3pPr>
              <a:tabLst>
                <a:tab pos="0" algn="l"/>
                <a:tab pos="914400" algn="l"/>
                <a:tab pos="1828800" algn="l"/>
              </a:tabLst>
              <a:defRPr>
                <a:solidFill>
                  <a:srgbClr val="000000"/>
                </a:solidFill>
                <a:latin typeface="Arial" panose="020B0604020202020204" pitchFamily="34" charset="0"/>
                <a:cs typeface="Noto Sans CJK SC" charset="0"/>
              </a:defRPr>
            </a:lvl3pPr>
            <a:lvl4pPr>
              <a:tabLst>
                <a:tab pos="0" algn="l"/>
                <a:tab pos="914400" algn="l"/>
                <a:tab pos="1828800" algn="l"/>
              </a:tabLst>
              <a:defRPr>
                <a:solidFill>
                  <a:srgbClr val="000000"/>
                </a:solidFill>
                <a:latin typeface="Arial" panose="020B0604020202020204" pitchFamily="34" charset="0"/>
                <a:cs typeface="Noto Sans CJK SC" charset="0"/>
              </a:defRPr>
            </a:lvl4pPr>
            <a:lvl5pPr>
              <a:tabLst>
                <a:tab pos="0" algn="l"/>
                <a:tab pos="914400" algn="l"/>
                <a:tab pos="18288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tabLst>
                <a:tab pos="0" algn="l"/>
                <a:tab pos="685800" algn="l"/>
                <a:tab pos="1371600" algn="l"/>
              </a:tabLst>
            </a:pPr>
            <a:r>
              <a:rPr lang="en-US" altLang="en-US" sz="1600" b="1" dirty="0">
                <a:solidFill>
                  <a:srgbClr val="F5A623"/>
                </a:solidFill>
                <a:latin typeface="Times New Roman" panose="02020603050405020304" pitchFamily="18" charset="0"/>
                <a:cs typeface="Times New Roman" panose="02020603050405020304" pitchFamily="18" charset="0"/>
              </a:rPr>
              <a:t>OUTPUT LAYER</a:t>
            </a:r>
          </a:p>
        </p:txBody>
      </p:sp>
      <p:sp>
        <p:nvSpPr>
          <p:cNvPr id="3121" name="Rectangle 49">
            <a:extLst>
              <a:ext uri="{FF2B5EF4-FFF2-40B4-BE49-F238E27FC236}">
                <a16:creationId xmlns:a16="http://schemas.microsoft.com/office/drawing/2014/main" id="{9848260E-57A5-4B88-CDEC-B8ED4E96BB82}"/>
              </a:ext>
            </a:extLst>
          </p:cNvPr>
          <p:cNvSpPr>
            <a:spLocks noChangeArrowheads="1"/>
          </p:cNvSpPr>
          <p:nvPr/>
        </p:nvSpPr>
        <p:spPr bwMode="auto">
          <a:xfrm>
            <a:off x="342900" y="3989057"/>
            <a:ext cx="1749029"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lstStyle>
            <a:lvl1pPr>
              <a:tabLst>
                <a:tab pos="0" algn="l"/>
                <a:tab pos="914400" algn="l"/>
                <a:tab pos="1828800" algn="l"/>
              </a:tabLst>
              <a:defRPr>
                <a:solidFill>
                  <a:srgbClr val="000000"/>
                </a:solidFill>
                <a:latin typeface="Arial" panose="020B0604020202020204" pitchFamily="34" charset="0"/>
                <a:cs typeface="Noto Sans CJK SC" charset="0"/>
              </a:defRPr>
            </a:lvl1pPr>
            <a:lvl2pPr>
              <a:tabLst>
                <a:tab pos="0" algn="l"/>
                <a:tab pos="914400" algn="l"/>
                <a:tab pos="1828800" algn="l"/>
              </a:tabLst>
              <a:defRPr>
                <a:solidFill>
                  <a:srgbClr val="000000"/>
                </a:solidFill>
                <a:latin typeface="Arial" panose="020B0604020202020204" pitchFamily="34" charset="0"/>
                <a:cs typeface="Noto Sans CJK SC" charset="0"/>
              </a:defRPr>
            </a:lvl2pPr>
            <a:lvl3pPr>
              <a:tabLst>
                <a:tab pos="0" algn="l"/>
                <a:tab pos="914400" algn="l"/>
                <a:tab pos="1828800" algn="l"/>
              </a:tabLst>
              <a:defRPr>
                <a:solidFill>
                  <a:srgbClr val="000000"/>
                </a:solidFill>
                <a:latin typeface="Arial" panose="020B0604020202020204" pitchFamily="34" charset="0"/>
                <a:cs typeface="Noto Sans CJK SC" charset="0"/>
              </a:defRPr>
            </a:lvl3pPr>
            <a:lvl4pPr>
              <a:tabLst>
                <a:tab pos="0" algn="l"/>
                <a:tab pos="914400" algn="l"/>
                <a:tab pos="1828800" algn="l"/>
              </a:tabLst>
              <a:defRPr>
                <a:solidFill>
                  <a:srgbClr val="000000"/>
                </a:solidFill>
                <a:latin typeface="Arial" panose="020B0604020202020204" pitchFamily="34" charset="0"/>
                <a:cs typeface="Noto Sans CJK SC" charset="0"/>
              </a:defRPr>
            </a:lvl4pPr>
            <a:lvl5pPr>
              <a:tabLst>
                <a:tab pos="0" algn="l"/>
                <a:tab pos="914400" algn="l"/>
                <a:tab pos="18288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tabLst>
                <a:tab pos="0" algn="l"/>
                <a:tab pos="685800" algn="l"/>
                <a:tab pos="1371600" algn="l"/>
              </a:tabLst>
            </a:pPr>
            <a:r>
              <a:rPr lang="en-US" altLang="en-US" dirty="0">
                <a:solidFill>
                  <a:srgbClr val="FFFFFF"/>
                </a:solidFill>
                <a:latin typeface="Times New Roman" panose="02020603050405020304" pitchFamily="18" charset="0"/>
                <a:cs typeface="Times New Roman" panose="02020603050405020304" pitchFamily="18" charset="0"/>
              </a:rPr>
              <a:t>Grounded, role-aware answer with source</a:t>
            </a:r>
          </a:p>
        </p:txBody>
      </p:sp>
      <p:sp>
        <p:nvSpPr>
          <p:cNvPr id="3122" name="Rectangle 50">
            <a:extLst>
              <a:ext uri="{FF2B5EF4-FFF2-40B4-BE49-F238E27FC236}">
                <a16:creationId xmlns:a16="http://schemas.microsoft.com/office/drawing/2014/main" id="{8AF07770-7889-656B-7C87-9194C1EF0E9D}"/>
              </a:ext>
            </a:extLst>
          </p:cNvPr>
          <p:cNvSpPr>
            <a:spLocks noChangeArrowheads="1"/>
          </p:cNvSpPr>
          <p:nvPr/>
        </p:nvSpPr>
        <p:spPr bwMode="auto">
          <a:xfrm>
            <a:off x="7316391" y="2150951"/>
            <a:ext cx="1749028" cy="1851422"/>
          </a:xfrm>
          <a:prstGeom prst="rect">
            <a:avLst/>
          </a:prstGeom>
          <a:solidFill>
            <a:srgbClr val="0B1930"/>
          </a:solidFill>
          <a:ln w="19080" cap="flat">
            <a:solidFill>
              <a:srgbClr val="27AE6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685800" fontAlgn="base" hangingPunct="0">
              <a:lnSpc>
                <a:spcPct val="93000"/>
              </a:lnSpc>
              <a:spcBef>
                <a:spcPts val="10"/>
              </a:spcBef>
              <a:spcAft>
                <a:spcPts val="10"/>
              </a:spcAft>
              <a:buClr>
                <a:srgbClr val="000000"/>
              </a:buClr>
              <a:buSzPct val="100000"/>
            </a:pPr>
            <a:endParaRPr lang="en-IN" sz="1350">
              <a:solidFill>
                <a:srgbClr val="000000"/>
              </a:solidFill>
              <a:latin typeface="Times New Roman" panose="02020603050405020304" pitchFamily="18" charset="0"/>
              <a:cs typeface="Times New Roman" panose="02020603050405020304" pitchFamily="18" charset="0"/>
            </a:endParaRPr>
          </a:p>
        </p:txBody>
      </p:sp>
      <p:sp>
        <p:nvSpPr>
          <p:cNvPr id="3123" name="Rectangle 51">
            <a:extLst>
              <a:ext uri="{FF2B5EF4-FFF2-40B4-BE49-F238E27FC236}">
                <a16:creationId xmlns:a16="http://schemas.microsoft.com/office/drawing/2014/main" id="{1AFE15EF-1B27-F485-4149-8216440B91BC}"/>
              </a:ext>
            </a:extLst>
          </p:cNvPr>
          <p:cNvSpPr>
            <a:spLocks noChangeArrowheads="1"/>
          </p:cNvSpPr>
          <p:nvPr/>
        </p:nvSpPr>
        <p:spPr bwMode="auto">
          <a:xfrm>
            <a:off x="7306905" y="2335685"/>
            <a:ext cx="1758514"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nchor="ctr"/>
          <a:lstStyle>
            <a:lvl1pPr>
              <a:tabLst>
                <a:tab pos="0" algn="l"/>
                <a:tab pos="914400" algn="l"/>
                <a:tab pos="1828800" algn="l"/>
              </a:tabLst>
              <a:defRPr>
                <a:solidFill>
                  <a:srgbClr val="000000"/>
                </a:solidFill>
                <a:latin typeface="Arial" panose="020B0604020202020204" pitchFamily="34" charset="0"/>
                <a:cs typeface="Noto Sans CJK SC" charset="0"/>
              </a:defRPr>
            </a:lvl1pPr>
            <a:lvl2pPr>
              <a:tabLst>
                <a:tab pos="0" algn="l"/>
                <a:tab pos="914400" algn="l"/>
                <a:tab pos="1828800" algn="l"/>
              </a:tabLst>
              <a:defRPr>
                <a:solidFill>
                  <a:srgbClr val="000000"/>
                </a:solidFill>
                <a:latin typeface="Arial" panose="020B0604020202020204" pitchFamily="34" charset="0"/>
                <a:cs typeface="Noto Sans CJK SC" charset="0"/>
              </a:defRPr>
            </a:lvl2pPr>
            <a:lvl3pPr>
              <a:tabLst>
                <a:tab pos="0" algn="l"/>
                <a:tab pos="914400" algn="l"/>
                <a:tab pos="1828800" algn="l"/>
              </a:tabLst>
              <a:defRPr>
                <a:solidFill>
                  <a:srgbClr val="000000"/>
                </a:solidFill>
                <a:latin typeface="Arial" panose="020B0604020202020204" pitchFamily="34" charset="0"/>
                <a:cs typeface="Noto Sans CJK SC" charset="0"/>
              </a:defRPr>
            </a:lvl3pPr>
            <a:lvl4pPr>
              <a:tabLst>
                <a:tab pos="0" algn="l"/>
                <a:tab pos="914400" algn="l"/>
                <a:tab pos="1828800" algn="l"/>
              </a:tabLst>
              <a:defRPr>
                <a:solidFill>
                  <a:srgbClr val="000000"/>
                </a:solidFill>
                <a:latin typeface="Arial" panose="020B0604020202020204" pitchFamily="34" charset="0"/>
                <a:cs typeface="Noto Sans CJK SC" charset="0"/>
              </a:defRPr>
            </a:lvl4pPr>
            <a:lvl5pPr>
              <a:tabLst>
                <a:tab pos="0" algn="l"/>
                <a:tab pos="914400" algn="l"/>
                <a:tab pos="18288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tabLst>
                <a:tab pos="0" algn="l"/>
                <a:tab pos="685800" algn="l"/>
                <a:tab pos="1371600" algn="l"/>
              </a:tabLst>
            </a:pPr>
            <a:r>
              <a:rPr lang="en-US" altLang="en-US" sz="1600" b="1" dirty="0">
                <a:solidFill>
                  <a:srgbClr val="27AE60"/>
                </a:solidFill>
                <a:latin typeface="Times New Roman" panose="02020603050405020304" pitchFamily="18" charset="0"/>
                <a:cs typeface="Times New Roman" panose="02020603050405020304" pitchFamily="18" charset="0"/>
              </a:rPr>
              <a:t>INTELLIGENCE LAYER</a:t>
            </a:r>
          </a:p>
        </p:txBody>
      </p:sp>
      <p:sp>
        <p:nvSpPr>
          <p:cNvPr id="3124" name="Rectangle 52">
            <a:extLst>
              <a:ext uri="{FF2B5EF4-FFF2-40B4-BE49-F238E27FC236}">
                <a16:creationId xmlns:a16="http://schemas.microsoft.com/office/drawing/2014/main" id="{736097EE-29C6-FB33-7221-BF9C22E344AA}"/>
              </a:ext>
            </a:extLst>
          </p:cNvPr>
          <p:cNvSpPr>
            <a:spLocks noChangeArrowheads="1"/>
          </p:cNvSpPr>
          <p:nvPr/>
        </p:nvSpPr>
        <p:spPr bwMode="auto">
          <a:xfrm>
            <a:off x="7360681" y="2777287"/>
            <a:ext cx="1704738" cy="12680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3750" rIns="67500" bIns="33750"/>
          <a:lstStyle>
            <a:lvl1pPr>
              <a:tabLst>
                <a:tab pos="0" algn="l"/>
                <a:tab pos="914400" algn="l"/>
                <a:tab pos="1828800" algn="l"/>
              </a:tabLst>
              <a:defRPr>
                <a:solidFill>
                  <a:srgbClr val="000000"/>
                </a:solidFill>
                <a:latin typeface="Arial" panose="020B0604020202020204" pitchFamily="34" charset="0"/>
                <a:cs typeface="Noto Sans CJK SC" charset="0"/>
              </a:defRPr>
            </a:lvl1pPr>
            <a:lvl2pPr>
              <a:tabLst>
                <a:tab pos="0" algn="l"/>
                <a:tab pos="914400" algn="l"/>
                <a:tab pos="1828800" algn="l"/>
              </a:tabLst>
              <a:defRPr>
                <a:solidFill>
                  <a:srgbClr val="000000"/>
                </a:solidFill>
                <a:latin typeface="Arial" panose="020B0604020202020204" pitchFamily="34" charset="0"/>
                <a:cs typeface="Noto Sans CJK SC" charset="0"/>
              </a:defRPr>
            </a:lvl2pPr>
            <a:lvl3pPr>
              <a:tabLst>
                <a:tab pos="0" algn="l"/>
                <a:tab pos="914400" algn="l"/>
                <a:tab pos="1828800" algn="l"/>
              </a:tabLst>
              <a:defRPr>
                <a:solidFill>
                  <a:srgbClr val="000000"/>
                </a:solidFill>
                <a:latin typeface="Arial" panose="020B0604020202020204" pitchFamily="34" charset="0"/>
                <a:cs typeface="Noto Sans CJK SC" charset="0"/>
              </a:defRPr>
            </a:lvl3pPr>
            <a:lvl4pPr>
              <a:tabLst>
                <a:tab pos="0" algn="l"/>
                <a:tab pos="914400" algn="l"/>
                <a:tab pos="1828800" algn="l"/>
              </a:tabLst>
              <a:defRPr>
                <a:solidFill>
                  <a:srgbClr val="000000"/>
                </a:solidFill>
                <a:latin typeface="Arial" panose="020B0604020202020204" pitchFamily="34" charset="0"/>
                <a:cs typeface="Noto Sans CJK SC" charset="0"/>
              </a:defRPr>
            </a:lvl4pPr>
            <a:lvl5pPr>
              <a:tabLst>
                <a:tab pos="0" algn="l"/>
                <a:tab pos="914400" algn="l"/>
                <a:tab pos="18288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Lst>
              <a:defRPr>
                <a:solidFill>
                  <a:srgbClr val="000000"/>
                </a:solidFill>
                <a:latin typeface="Arial" panose="020B0604020202020204" pitchFamily="34" charset="0"/>
                <a:cs typeface="Noto Sans CJK SC" charset="0"/>
              </a:defRPr>
            </a:lvl9pPr>
          </a:lstStyle>
          <a:p>
            <a:pPr algn="ctr" defTabSz="685800" fontAlgn="base">
              <a:spcBef>
                <a:spcPts val="10"/>
              </a:spcBef>
              <a:spcAft>
                <a:spcPts val="10"/>
              </a:spcAft>
              <a:buClr>
                <a:srgbClr val="000000"/>
              </a:buClr>
              <a:buSzPct val="100000"/>
              <a:tabLst>
                <a:tab pos="0" algn="l"/>
                <a:tab pos="685800" algn="l"/>
                <a:tab pos="1371600" algn="l"/>
              </a:tabLst>
            </a:pPr>
            <a:r>
              <a:rPr lang="en-US" altLang="en-US" dirty="0">
                <a:solidFill>
                  <a:srgbClr val="FFFFFF"/>
                </a:solidFill>
                <a:latin typeface="Times New Roman" panose="02020603050405020304" pitchFamily="18" charset="0"/>
                <a:cs typeface="Times New Roman" panose="02020603050405020304" pitchFamily="18" charset="0"/>
              </a:rPr>
              <a:t>RAG retrieves real documents before answering</a:t>
            </a:r>
          </a:p>
        </p:txBody>
      </p:sp>
      <p:sp>
        <p:nvSpPr>
          <p:cNvPr id="15" name="Text 35">
            <a:extLst>
              <a:ext uri="{FF2B5EF4-FFF2-40B4-BE49-F238E27FC236}">
                <a16:creationId xmlns:a16="http://schemas.microsoft.com/office/drawing/2014/main" id="{9136F6DA-B321-B7F1-B7E7-611DC690BA52}"/>
              </a:ext>
            </a:extLst>
          </p:cNvPr>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0" y="91440"/>
            <a:ext cx="930937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RESULTS — TATABOT LIVE DEMO (Training + Troubleshooting)</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274320" y="777240"/>
            <a:ext cx="8595360" cy="416052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274320" y="2560320"/>
            <a:ext cx="8595360" cy="457200"/>
          </a:xfrm>
          <a:prstGeom prst="rect">
            <a:avLst/>
          </a:prstGeom>
          <a:noFill/>
          <a:ln/>
        </p:spPr>
        <p:txBody>
          <a:bodyPr wrap="square" rtlCol="0" anchor="ctr"/>
          <a:lstStyle/>
          <a:p>
            <a:pPr marL="0" indent="0" algn="ctr">
              <a:buNone/>
            </a:pP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97DEB34-7557-13EF-1312-EC5C7AC87969}"/>
              </a:ext>
            </a:extLst>
          </p:cNvPr>
          <p:cNvPicPr>
            <a:picLocks noChangeAspect="1"/>
          </p:cNvPicPr>
          <p:nvPr/>
        </p:nvPicPr>
        <p:blipFill>
          <a:blip r:embed="rId3"/>
          <a:stretch>
            <a:fillRect/>
          </a:stretch>
        </p:blipFill>
        <p:spPr>
          <a:xfrm>
            <a:off x="274320" y="777240"/>
            <a:ext cx="8595360" cy="41605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48195" y="0"/>
            <a:ext cx="9542417" cy="685800"/>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cs typeface="Times New Roman" panose="02020603050405020304" pitchFamily="18" charset="0"/>
              </a:rPr>
              <a:t>RESULTS — TATABOT (Safety + Reporting + Knowledge Boundary)</a:t>
            </a:r>
            <a:endParaRPr lang="en-US" sz="2200" dirty="0">
              <a:latin typeface="Times New Roman" panose="02020603050405020304" pitchFamily="18" charset="0"/>
              <a:cs typeface="Times New Roman" panose="02020603050405020304" pitchFamily="18" charset="0"/>
            </a:endParaRPr>
          </a:p>
        </p:txBody>
      </p:sp>
      <p:sp>
        <p:nvSpPr>
          <p:cNvPr id="4" name="Shape 2"/>
          <p:cNvSpPr/>
          <p:nvPr/>
        </p:nvSpPr>
        <p:spPr>
          <a:xfrm>
            <a:off x="274320" y="777240"/>
            <a:ext cx="8595360" cy="416052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274320" y="2560320"/>
            <a:ext cx="8595360" cy="457200"/>
          </a:xfrm>
          <a:prstGeom prst="rect">
            <a:avLst/>
          </a:prstGeom>
          <a:noFill/>
          <a:ln/>
        </p:spPr>
        <p:txBody>
          <a:bodyPr wrap="square" rtlCol="0" anchor="ctr"/>
          <a:lstStyle/>
          <a:p>
            <a:pPr marL="0" indent="0" algn="ctr">
              <a:buNone/>
            </a:pP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696C4C7-DCE9-1152-CBE2-FB925BC19002}"/>
              </a:ext>
            </a:extLst>
          </p:cNvPr>
          <p:cNvPicPr>
            <a:picLocks noChangeAspect="1"/>
          </p:cNvPicPr>
          <p:nvPr/>
        </p:nvPicPr>
        <p:blipFill>
          <a:blip r:embed="rId3"/>
          <a:stretch>
            <a:fillRect/>
          </a:stretch>
        </p:blipFill>
        <p:spPr>
          <a:xfrm>
            <a:off x="274320" y="777240"/>
            <a:ext cx="8595360" cy="41605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BUSINESS CASE — ROI &amp; IMPACT ANALYSIS</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82880" y="777240"/>
            <a:ext cx="2926080" cy="411480"/>
          </a:xfrm>
          <a:prstGeom prst="rect">
            <a:avLst/>
          </a:prstGeom>
          <a:solidFill>
            <a:srgbClr val="0D1B2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182880" y="777240"/>
            <a:ext cx="2926080" cy="411480"/>
          </a:xfrm>
          <a:prstGeom prst="rect">
            <a:avLst/>
          </a:prstGeom>
          <a:noFill/>
          <a:ln/>
        </p:spPr>
        <p:txBody>
          <a:bodyPr wrap="square" rtlCol="0" anchor="ctr"/>
          <a:lstStyle/>
          <a:p>
            <a:pPr marL="0" indent="0" algn="ctr">
              <a:buNone/>
            </a:pPr>
            <a:r>
              <a:rPr lang="en-US" b="1" dirty="0">
                <a:solidFill>
                  <a:srgbClr val="F39C12"/>
                </a:solidFill>
                <a:latin typeface="Times New Roman" panose="02020603050405020304" pitchFamily="18" charset="0"/>
                <a:cs typeface="Times New Roman" panose="02020603050405020304" pitchFamily="18" charset="0"/>
              </a:rPr>
              <a:t>METRIC</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3200400" y="777240"/>
            <a:ext cx="2011680" cy="411480"/>
          </a:xfrm>
          <a:prstGeom prst="rect">
            <a:avLst/>
          </a:prstGeom>
          <a:solidFill>
            <a:srgbClr val="C0392B"/>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3154680" y="783771"/>
            <a:ext cx="2103120" cy="393192"/>
          </a:xfrm>
          <a:prstGeom prst="rect">
            <a:avLst/>
          </a:prstGeom>
          <a:noFill/>
          <a:ln/>
        </p:spPr>
        <p:txBody>
          <a:bodyPr wrap="square"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WITHOUT TATABOT</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5303520" y="777240"/>
            <a:ext cx="1828800" cy="41148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9" name="Text 7"/>
          <p:cNvSpPr/>
          <p:nvPr/>
        </p:nvSpPr>
        <p:spPr>
          <a:xfrm>
            <a:off x="5303520" y="777240"/>
            <a:ext cx="1828800" cy="411480"/>
          </a:xfrm>
          <a:prstGeom prst="rect">
            <a:avLst/>
          </a:prstGeom>
          <a:noFill/>
          <a:ln/>
        </p:spPr>
        <p:txBody>
          <a:bodyPr wrap="square" rtlCol="0" anchor="ct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WITH TATABOT</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7223760" y="777240"/>
            <a:ext cx="1737360" cy="41148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1" name="Text 9"/>
          <p:cNvSpPr/>
          <p:nvPr/>
        </p:nvSpPr>
        <p:spPr>
          <a:xfrm>
            <a:off x="7223760" y="777240"/>
            <a:ext cx="1737360" cy="411480"/>
          </a:xfrm>
          <a:prstGeom prst="rect">
            <a:avLst/>
          </a:prstGeom>
          <a:noFill/>
          <a:ln/>
        </p:spPr>
        <p:txBody>
          <a:bodyPr wrap="square" rtlCol="0" anchor="ctr"/>
          <a:lstStyle/>
          <a:p>
            <a:pPr marL="0" indent="0" algn="ctr">
              <a:buNone/>
            </a:pPr>
            <a:r>
              <a:rPr lang="en-US" b="1" dirty="0">
                <a:solidFill>
                  <a:srgbClr val="0D1B2A"/>
                </a:solidFill>
                <a:latin typeface="Times New Roman" panose="02020603050405020304" pitchFamily="18" charset="0"/>
                <a:cs typeface="Times New Roman" panose="02020603050405020304" pitchFamily="18" charset="0"/>
              </a:rPr>
              <a:t>IMPACT</a:t>
            </a:r>
            <a:endParaRPr lang="en-US" dirty="0">
              <a:latin typeface="Times New Roman" panose="02020603050405020304" pitchFamily="18" charset="0"/>
              <a:cs typeface="Times New Roman" panose="02020603050405020304" pitchFamily="18" charset="0"/>
            </a:endParaRPr>
          </a:p>
        </p:txBody>
      </p:sp>
      <p:sp>
        <p:nvSpPr>
          <p:cNvPr id="12" name="Shape 10"/>
          <p:cNvSpPr/>
          <p:nvPr/>
        </p:nvSpPr>
        <p:spPr>
          <a:xfrm>
            <a:off x="182880" y="1298448"/>
            <a:ext cx="2926080" cy="749808"/>
          </a:xfrm>
          <a:prstGeom prst="rect">
            <a:avLst/>
          </a:prstGeom>
          <a:solidFill>
            <a:srgbClr val="2E86C1"/>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1"/>
          <p:cNvSpPr/>
          <p:nvPr/>
        </p:nvSpPr>
        <p:spPr>
          <a:xfrm>
            <a:off x="256032" y="1298448"/>
            <a:ext cx="2779776" cy="749808"/>
          </a:xfrm>
          <a:prstGeom prst="rect">
            <a:avLst/>
          </a:prstGeom>
          <a:noFill/>
          <a:ln/>
        </p:spPr>
        <p:txBody>
          <a:bodyPr wrap="square" rtlCol="0" anchor="ctr"/>
          <a:lstStyle/>
          <a:p>
            <a:pPr marL="0" indent="0">
              <a:buNone/>
            </a:pPr>
            <a:r>
              <a:rPr lang="en-US" b="1" dirty="0">
                <a:solidFill>
                  <a:srgbClr val="FFFFFF"/>
                </a:solidFill>
                <a:latin typeface="Times New Roman" panose="02020603050405020304" pitchFamily="18" charset="0"/>
                <a:cs typeface="Times New Roman" panose="02020603050405020304" pitchFamily="18" charset="0"/>
              </a:rPr>
              <a:t>Query Resolution Time</a:t>
            </a:r>
            <a:endParaRPr lang="en-US" dirty="0">
              <a:latin typeface="Times New Roman" panose="02020603050405020304" pitchFamily="18" charset="0"/>
              <a:cs typeface="Times New Roman" panose="02020603050405020304" pitchFamily="18" charset="0"/>
            </a:endParaRPr>
          </a:p>
        </p:txBody>
      </p:sp>
      <p:sp>
        <p:nvSpPr>
          <p:cNvPr id="14" name="Shape 12"/>
          <p:cNvSpPr/>
          <p:nvPr/>
        </p:nvSpPr>
        <p:spPr>
          <a:xfrm>
            <a:off x="3200400" y="1298448"/>
            <a:ext cx="2011680" cy="749808"/>
          </a:xfrm>
          <a:prstGeom prst="rect">
            <a:avLst/>
          </a:prstGeom>
          <a:solidFill>
            <a:srgbClr val="1A0A0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5" name="Text 13"/>
          <p:cNvSpPr/>
          <p:nvPr/>
        </p:nvSpPr>
        <p:spPr>
          <a:xfrm>
            <a:off x="3273552" y="1298448"/>
            <a:ext cx="1865376" cy="749808"/>
          </a:xfrm>
          <a:prstGeom prst="rect">
            <a:avLst/>
          </a:prstGeom>
          <a:noFill/>
          <a:ln/>
        </p:spPr>
        <p:txBody>
          <a:bodyPr wrap="square" rtlCol="0" anchor="ctr"/>
          <a:lstStyle/>
          <a:p>
            <a:pPr marL="0" indent="0" algn="ctr">
              <a:buNone/>
            </a:pPr>
            <a:r>
              <a:rPr lang="en-US" dirty="0">
                <a:solidFill>
                  <a:srgbClr val="FF8080"/>
                </a:solidFill>
                <a:latin typeface="Times New Roman" panose="02020603050405020304" pitchFamily="18" charset="0"/>
                <a:cs typeface="Times New Roman" panose="02020603050405020304" pitchFamily="18" charset="0"/>
              </a:rPr>
              <a:t>2–4 Hours</a:t>
            </a:r>
            <a:endParaRPr lang="en-US" dirty="0">
              <a:latin typeface="Times New Roman" panose="02020603050405020304" pitchFamily="18" charset="0"/>
              <a:cs typeface="Times New Roman" panose="02020603050405020304" pitchFamily="18" charset="0"/>
            </a:endParaRPr>
          </a:p>
        </p:txBody>
      </p:sp>
      <p:sp>
        <p:nvSpPr>
          <p:cNvPr id="16" name="Shape 14"/>
          <p:cNvSpPr/>
          <p:nvPr/>
        </p:nvSpPr>
        <p:spPr>
          <a:xfrm>
            <a:off x="5303520" y="1298448"/>
            <a:ext cx="1828800" cy="749808"/>
          </a:xfrm>
          <a:prstGeom prst="rect">
            <a:avLst/>
          </a:prstGeom>
          <a:solidFill>
            <a:srgbClr val="0A1A0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5"/>
          <p:cNvSpPr/>
          <p:nvPr/>
        </p:nvSpPr>
        <p:spPr>
          <a:xfrm>
            <a:off x="5376672" y="1298448"/>
            <a:ext cx="1682496" cy="749808"/>
          </a:xfrm>
          <a:prstGeom prst="rect">
            <a:avLst/>
          </a:prstGeom>
          <a:noFill/>
          <a:ln/>
        </p:spPr>
        <p:txBody>
          <a:bodyPr wrap="square" rtlCol="0" anchor="ctr"/>
          <a:lstStyle/>
          <a:p>
            <a:pPr marL="0" indent="0" algn="ctr">
              <a:buNone/>
            </a:pPr>
            <a:r>
              <a:rPr lang="en-US" dirty="0">
                <a:solidFill>
                  <a:srgbClr val="80FF80"/>
                </a:solidFill>
                <a:latin typeface="Times New Roman" panose="02020603050405020304" pitchFamily="18" charset="0"/>
                <a:cs typeface="Times New Roman" panose="02020603050405020304" pitchFamily="18" charset="0"/>
              </a:rPr>
              <a:t>&lt; 5 Seconds</a:t>
            </a:r>
            <a:endParaRPr lang="en-US" dirty="0">
              <a:latin typeface="Times New Roman" panose="02020603050405020304" pitchFamily="18" charset="0"/>
              <a:cs typeface="Times New Roman" panose="02020603050405020304" pitchFamily="18" charset="0"/>
            </a:endParaRPr>
          </a:p>
        </p:txBody>
      </p:sp>
      <p:sp>
        <p:nvSpPr>
          <p:cNvPr id="18" name="Shape 16"/>
          <p:cNvSpPr/>
          <p:nvPr/>
        </p:nvSpPr>
        <p:spPr>
          <a:xfrm>
            <a:off x="7223760" y="1298448"/>
            <a:ext cx="1737360" cy="749808"/>
          </a:xfrm>
          <a:prstGeom prst="rect">
            <a:avLst/>
          </a:prstGeom>
          <a:solidFill>
            <a:srgbClr val="162C44"/>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9" name="Text 17"/>
          <p:cNvSpPr/>
          <p:nvPr/>
        </p:nvSpPr>
        <p:spPr>
          <a:xfrm>
            <a:off x="7296912" y="1298448"/>
            <a:ext cx="1591056" cy="749808"/>
          </a:xfrm>
          <a:prstGeom prst="rect">
            <a:avLst/>
          </a:prstGeom>
          <a:noFill/>
          <a:ln/>
        </p:spPr>
        <p:txBody>
          <a:bodyPr wrap="square" rtlCol="0" anchor="ctr"/>
          <a:lstStyle/>
          <a:p>
            <a:r>
              <a:rPr lang="en-US" sz="1600" dirty="0">
                <a:solidFill>
                  <a:srgbClr val="F39C12"/>
                </a:solidFill>
                <a:latin typeface="Times New Roman" panose="02020603050405020304" pitchFamily="18" charset="0"/>
                <a:cs typeface="Times New Roman" panose="02020603050405020304" pitchFamily="18" charset="0"/>
              </a:rPr>
              <a:t>Faster access to information</a:t>
            </a:r>
          </a:p>
        </p:txBody>
      </p:sp>
      <p:sp>
        <p:nvSpPr>
          <p:cNvPr id="20" name="Shape 18"/>
          <p:cNvSpPr/>
          <p:nvPr/>
        </p:nvSpPr>
        <p:spPr>
          <a:xfrm>
            <a:off x="182880" y="2167128"/>
            <a:ext cx="2926080" cy="749808"/>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1" name="Text 19"/>
          <p:cNvSpPr/>
          <p:nvPr/>
        </p:nvSpPr>
        <p:spPr>
          <a:xfrm>
            <a:off x="256032" y="2167128"/>
            <a:ext cx="2779776" cy="749808"/>
          </a:xfrm>
          <a:prstGeom prst="rect">
            <a:avLst/>
          </a:prstGeom>
          <a:noFill/>
          <a:ln/>
        </p:spPr>
        <p:txBody>
          <a:bodyPr wrap="square" rtlCol="0" anchor="ctr"/>
          <a:lstStyle/>
          <a:p>
            <a:pPr marL="0" indent="0">
              <a:buNone/>
            </a:pPr>
            <a:r>
              <a:rPr lang="en-US" b="1" dirty="0">
                <a:solidFill>
                  <a:srgbClr val="FFFFFF"/>
                </a:solidFill>
                <a:latin typeface="Times New Roman" panose="02020603050405020304" pitchFamily="18" charset="0"/>
                <a:cs typeface="Times New Roman" panose="02020603050405020304" pitchFamily="18" charset="0"/>
              </a:rPr>
              <a:t>Training Completion</a:t>
            </a:r>
            <a:endParaRPr lang="en-US" dirty="0">
              <a:latin typeface="Times New Roman" panose="02020603050405020304" pitchFamily="18" charset="0"/>
              <a:cs typeface="Times New Roman" panose="02020603050405020304" pitchFamily="18" charset="0"/>
            </a:endParaRPr>
          </a:p>
        </p:txBody>
      </p:sp>
      <p:sp>
        <p:nvSpPr>
          <p:cNvPr id="22" name="Shape 20"/>
          <p:cNvSpPr/>
          <p:nvPr/>
        </p:nvSpPr>
        <p:spPr>
          <a:xfrm>
            <a:off x="3200400" y="2167128"/>
            <a:ext cx="2011680" cy="749808"/>
          </a:xfrm>
          <a:prstGeom prst="rect">
            <a:avLst/>
          </a:prstGeom>
          <a:solidFill>
            <a:srgbClr val="1A0A0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3" name="Text 21"/>
          <p:cNvSpPr/>
          <p:nvPr/>
        </p:nvSpPr>
        <p:spPr>
          <a:xfrm>
            <a:off x="3273552" y="2167128"/>
            <a:ext cx="1865376" cy="749808"/>
          </a:xfrm>
          <a:prstGeom prst="rect">
            <a:avLst/>
          </a:prstGeom>
          <a:noFill/>
          <a:ln/>
        </p:spPr>
        <p:txBody>
          <a:bodyPr wrap="square" rtlCol="0" anchor="ctr"/>
          <a:lstStyle/>
          <a:p>
            <a:pPr marL="0" indent="0" algn="ctr">
              <a:buNone/>
            </a:pPr>
            <a:r>
              <a:rPr lang="en-US" dirty="0">
                <a:solidFill>
                  <a:srgbClr val="FF8080"/>
                </a:solidFill>
                <a:latin typeface="Times New Roman" panose="02020603050405020304" pitchFamily="18" charset="0"/>
                <a:cs typeface="Times New Roman" panose="02020603050405020304" pitchFamily="18" charset="0"/>
              </a:rPr>
              <a:t>82% (98/120)</a:t>
            </a:r>
            <a:endParaRPr lang="en-US" dirty="0">
              <a:latin typeface="Times New Roman" panose="02020603050405020304" pitchFamily="18" charset="0"/>
              <a:cs typeface="Times New Roman" panose="02020603050405020304" pitchFamily="18" charset="0"/>
            </a:endParaRPr>
          </a:p>
        </p:txBody>
      </p:sp>
      <p:sp>
        <p:nvSpPr>
          <p:cNvPr id="24" name="Shape 22"/>
          <p:cNvSpPr/>
          <p:nvPr/>
        </p:nvSpPr>
        <p:spPr>
          <a:xfrm>
            <a:off x="5303520" y="2167128"/>
            <a:ext cx="1828800" cy="749808"/>
          </a:xfrm>
          <a:prstGeom prst="rect">
            <a:avLst/>
          </a:prstGeom>
          <a:solidFill>
            <a:srgbClr val="0A1A0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5" name="Text 23"/>
          <p:cNvSpPr/>
          <p:nvPr/>
        </p:nvSpPr>
        <p:spPr>
          <a:xfrm>
            <a:off x="5376672" y="2167128"/>
            <a:ext cx="1682496" cy="749808"/>
          </a:xfrm>
          <a:prstGeom prst="rect">
            <a:avLst/>
          </a:prstGeom>
          <a:noFill/>
          <a:ln/>
        </p:spPr>
        <p:txBody>
          <a:bodyPr wrap="square" rtlCol="0" anchor="ctr"/>
          <a:lstStyle/>
          <a:p>
            <a:pPr marL="0" indent="0" algn="ctr">
              <a:buNone/>
            </a:pPr>
            <a:r>
              <a:rPr lang="en-US" dirty="0">
                <a:solidFill>
                  <a:srgbClr val="80FF80"/>
                </a:solidFill>
                <a:latin typeface="Times New Roman" panose="02020603050405020304" pitchFamily="18" charset="0"/>
                <a:cs typeface="Times New Roman" panose="02020603050405020304" pitchFamily="18" charset="0"/>
              </a:rPr>
              <a:t>95%+ target</a:t>
            </a:r>
            <a:endParaRPr lang="en-US" dirty="0">
              <a:latin typeface="Times New Roman" panose="02020603050405020304" pitchFamily="18" charset="0"/>
              <a:cs typeface="Times New Roman" panose="02020603050405020304" pitchFamily="18" charset="0"/>
            </a:endParaRPr>
          </a:p>
        </p:txBody>
      </p:sp>
      <p:sp>
        <p:nvSpPr>
          <p:cNvPr id="26" name="Shape 24"/>
          <p:cNvSpPr/>
          <p:nvPr/>
        </p:nvSpPr>
        <p:spPr>
          <a:xfrm>
            <a:off x="7223760" y="2167128"/>
            <a:ext cx="1737360" cy="749808"/>
          </a:xfrm>
          <a:prstGeom prst="rect">
            <a:avLst/>
          </a:prstGeom>
          <a:solidFill>
            <a:srgbClr val="162C44"/>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7" name="Text 25"/>
          <p:cNvSpPr/>
          <p:nvPr/>
        </p:nvSpPr>
        <p:spPr>
          <a:xfrm>
            <a:off x="7296912" y="2167128"/>
            <a:ext cx="1755648" cy="749808"/>
          </a:xfrm>
          <a:prstGeom prst="rect">
            <a:avLst/>
          </a:prstGeom>
          <a:noFill/>
          <a:ln/>
        </p:spPr>
        <p:txBody>
          <a:bodyPr wrap="square" rtlCol="0" anchor="ctr"/>
          <a:lstStyle/>
          <a:p>
            <a:r>
              <a:rPr lang="en-US" sz="1600" dirty="0">
                <a:solidFill>
                  <a:srgbClr val="F39C12"/>
                </a:solidFill>
                <a:latin typeface="Times New Roman" panose="02020603050405020304" pitchFamily="18" charset="0"/>
                <a:cs typeface="Times New Roman" panose="02020603050405020304" pitchFamily="18" charset="0"/>
              </a:rPr>
              <a:t>Improved completion</a:t>
            </a:r>
          </a:p>
        </p:txBody>
      </p:sp>
      <p:sp>
        <p:nvSpPr>
          <p:cNvPr id="28" name="Shape 26"/>
          <p:cNvSpPr/>
          <p:nvPr/>
        </p:nvSpPr>
        <p:spPr>
          <a:xfrm>
            <a:off x="182880" y="3035808"/>
            <a:ext cx="2926080" cy="749808"/>
          </a:xfrm>
          <a:prstGeom prst="rect">
            <a:avLst/>
          </a:prstGeom>
          <a:solidFill>
            <a:srgbClr val="E67E2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9" name="Text 27"/>
          <p:cNvSpPr/>
          <p:nvPr/>
        </p:nvSpPr>
        <p:spPr>
          <a:xfrm>
            <a:off x="256032" y="3035808"/>
            <a:ext cx="2779776" cy="749808"/>
          </a:xfrm>
          <a:prstGeom prst="rect">
            <a:avLst/>
          </a:prstGeom>
          <a:noFill/>
          <a:ln/>
        </p:spPr>
        <p:txBody>
          <a:bodyPr wrap="square" rtlCol="0" anchor="ctr"/>
          <a:lstStyle/>
          <a:p>
            <a:pPr marL="0" indent="0">
              <a:buNone/>
            </a:pPr>
            <a:r>
              <a:rPr lang="en-US" b="1" dirty="0">
                <a:solidFill>
                  <a:srgbClr val="FFFFFF"/>
                </a:solidFill>
                <a:latin typeface="Times New Roman" panose="02020603050405020304" pitchFamily="18" charset="0"/>
                <a:cs typeface="Times New Roman" panose="02020603050405020304" pitchFamily="18" charset="0"/>
              </a:rPr>
              <a:t>Supervisor Dependency</a:t>
            </a:r>
            <a:endParaRPr lang="en-US" dirty="0">
              <a:latin typeface="Times New Roman" panose="02020603050405020304" pitchFamily="18" charset="0"/>
              <a:cs typeface="Times New Roman" panose="02020603050405020304" pitchFamily="18" charset="0"/>
            </a:endParaRPr>
          </a:p>
        </p:txBody>
      </p:sp>
      <p:sp>
        <p:nvSpPr>
          <p:cNvPr id="30" name="Shape 28"/>
          <p:cNvSpPr/>
          <p:nvPr/>
        </p:nvSpPr>
        <p:spPr>
          <a:xfrm>
            <a:off x="3200400" y="3035808"/>
            <a:ext cx="2011680" cy="749808"/>
          </a:xfrm>
          <a:prstGeom prst="rect">
            <a:avLst/>
          </a:prstGeom>
          <a:solidFill>
            <a:srgbClr val="1A0A0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1" name="Text 29"/>
          <p:cNvSpPr/>
          <p:nvPr/>
        </p:nvSpPr>
        <p:spPr>
          <a:xfrm>
            <a:off x="3273552" y="3035808"/>
            <a:ext cx="1865376" cy="749808"/>
          </a:xfrm>
          <a:prstGeom prst="rect">
            <a:avLst/>
          </a:prstGeom>
          <a:noFill/>
          <a:ln/>
        </p:spPr>
        <p:txBody>
          <a:bodyPr wrap="square" rtlCol="0" anchor="ctr"/>
          <a:lstStyle/>
          <a:p>
            <a:pPr marL="0" indent="0" algn="ctr">
              <a:buNone/>
            </a:pPr>
            <a:r>
              <a:rPr lang="en-US" dirty="0">
                <a:solidFill>
                  <a:srgbClr val="FF8080"/>
                </a:solidFill>
                <a:latin typeface="Times New Roman" panose="02020603050405020304" pitchFamily="18" charset="0"/>
                <a:cs typeface="Times New Roman" panose="02020603050405020304" pitchFamily="18" charset="0"/>
              </a:rPr>
              <a:t>High</a:t>
            </a:r>
            <a:endParaRPr lang="en-US" dirty="0">
              <a:latin typeface="Times New Roman" panose="02020603050405020304" pitchFamily="18" charset="0"/>
              <a:cs typeface="Times New Roman" panose="02020603050405020304" pitchFamily="18" charset="0"/>
            </a:endParaRPr>
          </a:p>
        </p:txBody>
      </p:sp>
      <p:sp>
        <p:nvSpPr>
          <p:cNvPr id="32" name="Shape 30"/>
          <p:cNvSpPr/>
          <p:nvPr/>
        </p:nvSpPr>
        <p:spPr>
          <a:xfrm>
            <a:off x="5303520" y="3035808"/>
            <a:ext cx="1828800" cy="749808"/>
          </a:xfrm>
          <a:prstGeom prst="rect">
            <a:avLst/>
          </a:prstGeom>
          <a:solidFill>
            <a:srgbClr val="0A1A0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3" name="Text 31"/>
          <p:cNvSpPr/>
          <p:nvPr/>
        </p:nvSpPr>
        <p:spPr>
          <a:xfrm>
            <a:off x="5376672" y="3035808"/>
            <a:ext cx="1682496" cy="749808"/>
          </a:xfrm>
          <a:prstGeom prst="rect">
            <a:avLst/>
          </a:prstGeom>
          <a:noFill/>
          <a:ln/>
        </p:spPr>
        <p:txBody>
          <a:bodyPr wrap="square" rtlCol="0" anchor="ctr"/>
          <a:lstStyle/>
          <a:p>
            <a:pPr algn="ctr"/>
            <a:r>
              <a:rPr lang="en-US" dirty="0">
                <a:solidFill>
                  <a:srgbClr val="80FF80"/>
                </a:solidFill>
                <a:latin typeface="Times New Roman" panose="02020603050405020304" pitchFamily="18" charset="0"/>
                <a:cs typeface="Times New Roman" panose="02020603050405020304" pitchFamily="18" charset="0"/>
              </a:rPr>
              <a:t>Reduced</a:t>
            </a:r>
            <a:endParaRPr lang="en-US" dirty="0">
              <a:latin typeface="Times New Roman" panose="02020603050405020304" pitchFamily="18" charset="0"/>
              <a:cs typeface="Times New Roman" panose="02020603050405020304" pitchFamily="18" charset="0"/>
            </a:endParaRPr>
          </a:p>
        </p:txBody>
      </p:sp>
      <p:sp>
        <p:nvSpPr>
          <p:cNvPr id="34" name="Shape 32"/>
          <p:cNvSpPr/>
          <p:nvPr/>
        </p:nvSpPr>
        <p:spPr>
          <a:xfrm>
            <a:off x="7223760" y="3035808"/>
            <a:ext cx="1737360" cy="749808"/>
          </a:xfrm>
          <a:prstGeom prst="rect">
            <a:avLst/>
          </a:prstGeom>
          <a:solidFill>
            <a:srgbClr val="162C44"/>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5" name="Text 33"/>
          <p:cNvSpPr/>
          <p:nvPr/>
        </p:nvSpPr>
        <p:spPr>
          <a:xfrm>
            <a:off x="7296912" y="3035808"/>
            <a:ext cx="1591056" cy="749808"/>
          </a:xfrm>
          <a:prstGeom prst="rect">
            <a:avLst/>
          </a:prstGeom>
          <a:noFill/>
          <a:ln/>
        </p:spPr>
        <p:txBody>
          <a:bodyPr wrap="square" rtlCol="0" anchor="ctr"/>
          <a:lstStyle/>
          <a:p>
            <a:r>
              <a:rPr lang="en-IN" sz="1600" dirty="0">
                <a:solidFill>
                  <a:srgbClr val="F39C12"/>
                </a:solidFill>
                <a:latin typeface="Times New Roman" panose="02020603050405020304" pitchFamily="18" charset="0"/>
                <a:cs typeface="Times New Roman" panose="02020603050405020304" pitchFamily="18" charset="0"/>
              </a:rPr>
              <a:t>More time for critical tasks</a:t>
            </a:r>
          </a:p>
        </p:txBody>
      </p:sp>
      <p:sp>
        <p:nvSpPr>
          <p:cNvPr id="36" name="Shape 34"/>
          <p:cNvSpPr/>
          <p:nvPr/>
        </p:nvSpPr>
        <p:spPr>
          <a:xfrm>
            <a:off x="182880" y="3904488"/>
            <a:ext cx="2926080" cy="749808"/>
          </a:xfrm>
          <a:prstGeom prst="rect">
            <a:avLst/>
          </a:prstGeom>
          <a:solidFill>
            <a:srgbClr val="C0392B"/>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7" name="Text 35"/>
          <p:cNvSpPr/>
          <p:nvPr/>
        </p:nvSpPr>
        <p:spPr>
          <a:xfrm>
            <a:off x="256032" y="3904488"/>
            <a:ext cx="2779776" cy="749808"/>
          </a:xfrm>
          <a:prstGeom prst="rect">
            <a:avLst/>
          </a:prstGeom>
          <a:noFill/>
          <a:ln/>
        </p:spPr>
        <p:txBody>
          <a:bodyPr wrap="square" rtlCol="0" anchor="ctr"/>
          <a:lstStyle/>
          <a:p>
            <a:pPr marL="0" indent="0">
              <a:buNone/>
            </a:pPr>
            <a:r>
              <a:rPr lang="en-US" b="1" dirty="0">
                <a:solidFill>
                  <a:srgbClr val="FFFFFF"/>
                </a:solidFill>
                <a:latin typeface="Times New Roman" panose="02020603050405020304" pitchFamily="18" charset="0"/>
                <a:cs typeface="Times New Roman" panose="02020603050405020304" pitchFamily="18" charset="0"/>
              </a:rPr>
              <a:t>Knowledge Loss Risk</a:t>
            </a:r>
            <a:endParaRPr lang="en-US" dirty="0">
              <a:latin typeface="Times New Roman" panose="02020603050405020304" pitchFamily="18" charset="0"/>
              <a:cs typeface="Times New Roman" panose="02020603050405020304" pitchFamily="18" charset="0"/>
            </a:endParaRPr>
          </a:p>
        </p:txBody>
      </p:sp>
      <p:sp>
        <p:nvSpPr>
          <p:cNvPr id="38" name="Shape 36"/>
          <p:cNvSpPr/>
          <p:nvPr/>
        </p:nvSpPr>
        <p:spPr>
          <a:xfrm>
            <a:off x="3200400" y="3904488"/>
            <a:ext cx="2011680" cy="749808"/>
          </a:xfrm>
          <a:prstGeom prst="rect">
            <a:avLst/>
          </a:prstGeom>
          <a:solidFill>
            <a:srgbClr val="1A0A0A"/>
          </a:solidFill>
          <a:ln/>
        </p:spPr>
        <p:txBody>
          <a:bodyPr/>
          <a:lstStyle/>
          <a:p>
            <a:pPr algn="ctr"/>
            <a:endParaRPr lang="en-IN">
              <a:latin typeface="Times New Roman" panose="02020603050405020304" pitchFamily="18" charset="0"/>
              <a:cs typeface="Times New Roman" panose="02020603050405020304" pitchFamily="18" charset="0"/>
            </a:endParaRPr>
          </a:p>
        </p:txBody>
      </p:sp>
      <p:sp>
        <p:nvSpPr>
          <p:cNvPr id="39" name="Text 37"/>
          <p:cNvSpPr/>
          <p:nvPr/>
        </p:nvSpPr>
        <p:spPr>
          <a:xfrm>
            <a:off x="3273552" y="3904488"/>
            <a:ext cx="1865376" cy="749808"/>
          </a:xfrm>
          <a:prstGeom prst="rect">
            <a:avLst/>
          </a:prstGeom>
          <a:noFill/>
          <a:ln/>
        </p:spPr>
        <p:txBody>
          <a:bodyPr wrap="square" rtlCol="0" anchor="ctr"/>
          <a:lstStyle/>
          <a:p>
            <a:pPr marL="0" indent="0" algn="ctr">
              <a:buNone/>
            </a:pPr>
            <a:r>
              <a:rPr lang="en-US" dirty="0">
                <a:solidFill>
                  <a:srgbClr val="FF8080"/>
                </a:solidFill>
                <a:latin typeface="Times New Roman" panose="02020603050405020304" pitchFamily="18" charset="0"/>
                <a:cs typeface="Times New Roman" panose="02020603050405020304" pitchFamily="18" charset="0"/>
              </a:rPr>
              <a:t>High</a:t>
            </a:r>
            <a:endParaRPr lang="en-US" dirty="0">
              <a:latin typeface="Times New Roman" panose="02020603050405020304" pitchFamily="18" charset="0"/>
              <a:cs typeface="Times New Roman" panose="02020603050405020304" pitchFamily="18" charset="0"/>
            </a:endParaRPr>
          </a:p>
        </p:txBody>
      </p:sp>
      <p:sp>
        <p:nvSpPr>
          <p:cNvPr id="40" name="Shape 38"/>
          <p:cNvSpPr/>
          <p:nvPr/>
        </p:nvSpPr>
        <p:spPr>
          <a:xfrm>
            <a:off x="5303520" y="3904488"/>
            <a:ext cx="1828800" cy="749808"/>
          </a:xfrm>
          <a:prstGeom prst="rect">
            <a:avLst/>
          </a:prstGeom>
          <a:solidFill>
            <a:srgbClr val="0A1A0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1" name="Text 39"/>
          <p:cNvSpPr/>
          <p:nvPr/>
        </p:nvSpPr>
        <p:spPr>
          <a:xfrm>
            <a:off x="5303520" y="3904488"/>
            <a:ext cx="1920240" cy="749808"/>
          </a:xfrm>
          <a:prstGeom prst="rect">
            <a:avLst/>
          </a:prstGeom>
          <a:noFill/>
          <a:ln/>
        </p:spPr>
        <p:txBody>
          <a:bodyPr wrap="square" rtlCol="0" anchor="ctr"/>
          <a:lstStyle/>
          <a:p>
            <a:pPr algn="ctr"/>
            <a:r>
              <a:rPr lang="en-US" dirty="0">
                <a:solidFill>
                  <a:srgbClr val="80FF80"/>
                </a:solidFill>
                <a:latin typeface="Times New Roman" panose="02020603050405020304" pitchFamily="18" charset="0"/>
                <a:cs typeface="Times New Roman" panose="02020603050405020304" pitchFamily="18" charset="0"/>
              </a:rPr>
              <a:t>Reduced</a:t>
            </a:r>
            <a:endParaRPr lang="en-US" dirty="0">
              <a:latin typeface="Times New Roman" panose="02020603050405020304" pitchFamily="18" charset="0"/>
              <a:cs typeface="Times New Roman" panose="02020603050405020304" pitchFamily="18" charset="0"/>
            </a:endParaRPr>
          </a:p>
        </p:txBody>
      </p:sp>
      <p:sp>
        <p:nvSpPr>
          <p:cNvPr id="42" name="Shape 40"/>
          <p:cNvSpPr/>
          <p:nvPr/>
        </p:nvSpPr>
        <p:spPr>
          <a:xfrm>
            <a:off x="7223760" y="3904488"/>
            <a:ext cx="1737360" cy="749808"/>
          </a:xfrm>
          <a:prstGeom prst="rect">
            <a:avLst/>
          </a:prstGeom>
          <a:solidFill>
            <a:srgbClr val="162C44"/>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3" name="Text 41"/>
          <p:cNvSpPr/>
          <p:nvPr/>
        </p:nvSpPr>
        <p:spPr>
          <a:xfrm>
            <a:off x="7296912" y="3904488"/>
            <a:ext cx="1755648" cy="749808"/>
          </a:xfrm>
          <a:prstGeom prst="rect">
            <a:avLst/>
          </a:prstGeom>
          <a:noFill/>
          <a:ln/>
        </p:spPr>
        <p:txBody>
          <a:bodyPr wrap="square" rtlCol="0" anchor="ctr"/>
          <a:lstStyle/>
          <a:p>
            <a:r>
              <a:rPr lang="en-US" sz="1600" dirty="0">
                <a:solidFill>
                  <a:srgbClr val="F39C12"/>
                </a:solidFill>
                <a:latin typeface="Times New Roman" panose="02020603050405020304" pitchFamily="18" charset="0"/>
                <a:cs typeface="Times New Roman" panose="02020603050405020304" pitchFamily="18" charset="0"/>
              </a:rPr>
              <a:t>Better knowledge preservation</a:t>
            </a:r>
            <a:endParaRPr lang="en-US" sz="1600" dirty="0">
              <a:latin typeface="Times New Roman" panose="02020603050405020304" pitchFamily="18" charset="0"/>
              <a:cs typeface="Times New Roman" panose="02020603050405020304" pitchFamily="18" charset="0"/>
            </a:endParaRPr>
          </a:p>
        </p:txBody>
      </p:sp>
      <p:sp>
        <p:nvSpPr>
          <p:cNvPr id="44" name="Shape 42"/>
          <p:cNvSpPr/>
          <p:nvPr/>
        </p:nvSpPr>
        <p:spPr>
          <a:xfrm>
            <a:off x="182880" y="4773168"/>
            <a:ext cx="8778240" cy="278892"/>
          </a:xfrm>
          <a:prstGeom prst="rect">
            <a:avLst/>
          </a:prstGeom>
          <a:solidFill>
            <a:srgbClr val="0D1B2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5" name="Text 43"/>
          <p:cNvSpPr/>
          <p:nvPr/>
        </p:nvSpPr>
        <p:spPr>
          <a:xfrm>
            <a:off x="176348" y="4821174"/>
            <a:ext cx="8693331" cy="182880"/>
          </a:xfrm>
          <a:prstGeom prst="rect">
            <a:avLst/>
          </a:prstGeom>
          <a:noFill/>
          <a:ln/>
        </p:spPr>
        <p:txBody>
          <a:bodyPr wrap="square" rtlCol="0" anchor="ctr"/>
          <a:lstStyle/>
          <a:p>
            <a:pPr algn="ctr"/>
            <a:r>
              <a:rPr lang="en-US" sz="1400" i="1" dirty="0">
                <a:solidFill>
                  <a:srgbClr val="F39C12"/>
                </a:solidFill>
                <a:latin typeface="Times New Roman" panose="02020603050405020304" pitchFamily="18" charset="0"/>
                <a:cs typeface="Times New Roman" panose="02020603050405020304" pitchFamily="18" charset="0"/>
              </a:rPr>
              <a:t>Scalability: </a:t>
            </a:r>
            <a:r>
              <a:rPr lang="en-IN" sz="1400" i="1" dirty="0">
                <a:solidFill>
                  <a:srgbClr val="F39C12"/>
                </a:solidFill>
                <a:latin typeface="Times New Roman" panose="02020603050405020304" pitchFamily="18" charset="0"/>
                <a:cs typeface="Times New Roman" panose="02020603050405020304" pitchFamily="18" charset="0"/>
              </a:rPr>
              <a:t>TataBot can support a large number of employees and provide knowledge access 24/7</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TESTING &amp; VALIDATION</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05056" y="777240"/>
            <a:ext cx="3229456" cy="411480"/>
          </a:xfrm>
          <a:prstGeom prst="rect">
            <a:avLst/>
          </a:prstGeom>
          <a:solidFill>
            <a:srgbClr val="0D1B2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105056" y="777240"/>
            <a:ext cx="3229456" cy="411480"/>
          </a:xfrm>
          <a:prstGeom prst="rect">
            <a:avLst/>
          </a:prstGeom>
          <a:noFill/>
          <a:ln/>
        </p:spPr>
        <p:txBody>
          <a:bodyPr wrap="square" rtlCol="0" anchor="ctr"/>
          <a:lstStyle/>
          <a:p>
            <a:pPr marL="0" indent="0" algn="ctr">
              <a:buNone/>
            </a:pPr>
            <a:r>
              <a:rPr lang="en-US" sz="2000" b="1" dirty="0">
                <a:solidFill>
                  <a:srgbClr val="F39C12"/>
                </a:solidFill>
                <a:latin typeface="Times New Roman" panose="02020603050405020304" pitchFamily="18" charset="0"/>
                <a:cs typeface="Times New Roman" panose="02020603050405020304" pitchFamily="18" charset="0"/>
              </a:rPr>
              <a:t>Query</a:t>
            </a:r>
            <a:endParaRPr lang="en-US" sz="2000" dirty="0">
              <a:latin typeface="Times New Roman" panose="02020603050405020304" pitchFamily="18" charset="0"/>
              <a:cs typeface="Times New Roman" panose="02020603050405020304" pitchFamily="18" charset="0"/>
            </a:endParaRPr>
          </a:p>
        </p:txBody>
      </p:sp>
      <p:sp>
        <p:nvSpPr>
          <p:cNvPr id="6" name="Shape 4"/>
          <p:cNvSpPr/>
          <p:nvPr/>
        </p:nvSpPr>
        <p:spPr>
          <a:xfrm>
            <a:off x="3455144" y="777240"/>
            <a:ext cx="2011680" cy="411480"/>
          </a:xfrm>
          <a:prstGeom prst="rect">
            <a:avLst/>
          </a:prstGeom>
          <a:solidFill>
            <a:srgbClr val="0D1B2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3455144" y="777240"/>
            <a:ext cx="2011680" cy="411480"/>
          </a:xfrm>
          <a:prstGeom prst="rect">
            <a:avLst/>
          </a:prstGeom>
          <a:noFill/>
          <a:ln/>
        </p:spPr>
        <p:txBody>
          <a:bodyPr wrap="square" rtlCol="0" anchor="ctr"/>
          <a:lstStyle/>
          <a:p>
            <a:pPr marL="0" indent="0" algn="ctr">
              <a:buNone/>
            </a:pPr>
            <a:r>
              <a:rPr lang="en-US" sz="2000" b="1" dirty="0">
                <a:solidFill>
                  <a:srgbClr val="F39C12"/>
                </a:solidFill>
                <a:latin typeface="Times New Roman" panose="02020603050405020304" pitchFamily="18" charset="0"/>
                <a:cs typeface="Times New Roman" panose="02020603050405020304" pitchFamily="18" charset="0"/>
              </a:rPr>
              <a:t>Detected Role</a:t>
            </a:r>
            <a:endParaRPr lang="en-US" sz="2000" dirty="0">
              <a:latin typeface="Times New Roman" panose="02020603050405020304" pitchFamily="18" charset="0"/>
              <a:cs typeface="Times New Roman" panose="02020603050405020304" pitchFamily="18" charset="0"/>
            </a:endParaRPr>
          </a:p>
        </p:txBody>
      </p:sp>
      <p:sp>
        <p:nvSpPr>
          <p:cNvPr id="8" name="Shape 6"/>
          <p:cNvSpPr/>
          <p:nvPr/>
        </p:nvSpPr>
        <p:spPr>
          <a:xfrm>
            <a:off x="5564775" y="777240"/>
            <a:ext cx="2286000" cy="411480"/>
          </a:xfrm>
          <a:prstGeom prst="rect">
            <a:avLst/>
          </a:prstGeom>
          <a:solidFill>
            <a:srgbClr val="0D1B2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9" name="Text 7"/>
          <p:cNvSpPr/>
          <p:nvPr/>
        </p:nvSpPr>
        <p:spPr>
          <a:xfrm>
            <a:off x="5587456" y="777240"/>
            <a:ext cx="2263319" cy="411480"/>
          </a:xfrm>
          <a:prstGeom prst="rect">
            <a:avLst/>
          </a:prstGeom>
          <a:noFill/>
          <a:ln/>
        </p:spPr>
        <p:txBody>
          <a:bodyPr wrap="square" rtlCol="0" anchor="ctr"/>
          <a:lstStyle/>
          <a:p>
            <a:pPr marL="0" indent="0" algn="ctr">
              <a:buNone/>
            </a:pPr>
            <a:r>
              <a:rPr lang="en-US" sz="2000" b="1" dirty="0">
                <a:solidFill>
                  <a:srgbClr val="F39C12"/>
                </a:solidFill>
                <a:latin typeface="Times New Roman" panose="02020603050405020304" pitchFamily="18" charset="0"/>
                <a:cs typeface="Times New Roman" panose="02020603050405020304" pitchFamily="18" charset="0"/>
              </a:rPr>
              <a:t>Source Document</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7948726" y="777240"/>
            <a:ext cx="1012394" cy="411480"/>
          </a:xfrm>
          <a:prstGeom prst="rect">
            <a:avLst/>
          </a:prstGeom>
          <a:solidFill>
            <a:srgbClr val="0D1B2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1" name="Text 9"/>
          <p:cNvSpPr/>
          <p:nvPr/>
        </p:nvSpPr>
        <p:spPr>
          <a:xfrm>
            <a:off x="7948726" y="777240"/>
            <a:ext cx="1012394" cy="411480"/>
          </a:xfrm>
          <a:prstGeom prst="rect">
            <a:avLst/>
          </a:prstGeom>
          <a:noFill/>
          <a:ln/>
        </p:spPr>
        <p:txBody>
          <a:bodyPr wrap="square" rtlCol="0" anchor="ctr"/>
          <a:lstStyle/>
          <a:p>
            <a:pPr marL="0" indent="0" algn="ctr">
              <a:buNone/>
            </a:pPr>
            <a:r>
              <a:rPr lang="en-US" sz="2000" b="1" dirty="0">
                <a:solidFill>
                  <a:srgbClr val="F39C12"/>
                </a:solidFill>
                <a:latin typeface="Times New Roman" panose="02020603050405020304" pitchFamily="18" charset="0"/>
                <a:cs typeface="Times New Roman" panose="02020603050405020304" pitchFamily="18" charset="0"/>
              </a:rPr>
              <a:t>Result</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105056" y="1298448"/>
            <a:ext cx="3229456"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1"/>
          <p:cNvSpPr/>
          <p:nvPr/>
        </p:nvSpPr>
        <p:spPr>
          <a:xfrm>
            <a:off x="178208" y="1335024"/>
            <a:ext cx="3113632" cy="530352"/>
          </a:xfrm>
          <a:prstGeom prst="rect">
            <a:avLst/>
          </a:prstGeom>
          <a:noFill/>
          <a:ln/>
        </p:spPr>
        <p:txBody>
          <a:bodyPr wrap="square" rtlCol="0" anchor="ctr"/>
          <a:lstStyle/>
          <a:p>
            <a:pPr marL="0" indent="0">
              <a:buNone/>
            </a:pPr>
            <a:r>
              <a:rPr lang="en-US" sz="1800" i="1" dirty="0">
                <a:solidFill>
                  <a:srgbClr val="0D1B2A"/>
                </a:solidFill>
                <a:latin typeface="Times New Roman" panose="02020603050405020304" pitchFamily="18" charset="0"/>
                <a:cs typeface="Times New Roman" panose="02020603050405020304" pitchFamily="18" charset="0"/>
              </a:rPr>
              <a:t>"I am a new operator. What should I learn first?"</a:t>
            </a:r>
            <a:endParaRPr lang="en-US" sz="1800" dirty="0">
              <a:latin typeface="Times New Roman" panose="02020603050405020304" pitchFamily="18" charset="0"/>
              <a:cs typeface="Times New Roman" panose="02020603050405020304" pitchFamily="18" charset="0"/>
            </a:endParaRPr>
          </a:p>
        </p:txBody>
      </p:sp>
      <p:sp>
        <p:nvSpPr>
          <p:cNvPr id="14" name="Shape 12"/>
          <p:cNvSpPr/>
          <p:nvPr/>
        </p:nvSpPr>
        <p:spPr>
          <a:xfrm>
            <a:off x="3455144" y="1298448"/>
            <a:ext cx="2011680"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5" name="Text 13"/>
          <p:cNvSpPr/>
          <p:nvPr/>
        </p:nvSpPr>
        <p:spPr>
          <a:xfrm>
            <a:off x="3528296" y="1335024"/>
            <a:ext cx="1865376" cy="530352"/>
          </a:xfrm>
          <a:prstGeom prst="rect">
            <a:avLst/>
          </a:prstGeom>
          <a:noFill/>
          <a:ln/>
        </p:spPr>
        <p:txBody>
          <a:bodyPr wrap="square" rtlCol="0" anchor="ctr"/>
          <a:lstStyle/>
          <a:p>
            <a:pPr marL="0" indent="0">
              <a:buNone/>
            </a:pPr>
            <a:r>
              <a:rPr lang="en-US" sz="1800" dirty="0">
                <a:solidFill>
                  <a:srgbClr val="1B4F72"/>
                </a:solidFill>
                <a:latin typeface="Times New Roman" panose="02020603050405020304" pitchFamily="18" charset="0"/>
                <a:cs typeface="Times New Roman" panose="02020603050405020304" pitchFamily="18" charset="0"/>
              </a:rPr>
              <a:t>New Operator</a:t>
            </a:r>
            <a:endParaRPr lang="en-US" sz="1800" dirty="0">
              <a:latin typeface="Times New Roman" panose="02020603050405020304" pitchFamily="18" charset="0"/>
              <a:cs typeface="Times New Roman" panose="02020603050405020304" pitchFamily="18" charset="0"/>
            </a:endParaRPr>
          </a:p>
        </p:txBody>
      </p:sp>
      <p:sp>
        <p:nvSpPr>
          <p:cNvPr id="16" name="Shape 14"/>
          <p:cNvSpPr/>
          <p:nvPr/>
        </p:nvSpPr>
        <p:spPr>
          <a:xfrm>
            <a:off x="5564775" y="1298448"/>
            <a:ext cx="2286000"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5"/>
          <p:cNvSpPr/>
          <p:nvPr/>
        </p:nvSpPr>
        <p:spPr>
          <a:xfrm>
            <a:off x="5587456" y="1335024"/>
            <a:ext cx="2263319" cy="530352"/>
          </a:xfrm>
          <a:prstGeom prst="rect">
            <a:avLst/>
          </a:prstGeom>
          <a:noFill/>
          <a:ln/>
        </p:spPr>
        <p:txBody>
          <a:bodyPr wrap="square" rtlCol="0" anchor="ctr"/>
          <a:lstStyle/>
          <a:p>
            <a:pPr marL="0" indent="0">
              <a:buNone/>
            </a:pPr>
            <a:r>
              <a:rPr lang="en-US" sz="1600" i="1" dirty="0">
                <a:latin typeface="Times New Roman" panose="02020603050405020304" pitchFamily="18" charset="0"/>
                <a:cs typeface="Times New Roman" panose="02020603050405020304" pitchFamily="18" charset="0"/>
              </a:rPr>
              <a:t>training_modules.txt</a:t>
            </a:r>
            <a:endParaRPr lang="en-US" sz="1600" dirty="0">
              <a:latin typeface="Times New Roman" panose="02020603050405020304" pitchFamily="18" charset="0"/>
              <a:cs typeface="Times New Roman" panose="02020603050405020304" pitchFamily="18" charset="0"/>
            </a:endParaRPr>
          </a:p>
        </p:txBody>
      </p:sp>
      <p:sp>
        <p:nvSpPr>
          <p:cNvPr id="18" name="Shape 16"/>
          <p:cNvSpPr/>
          <p:nvPr/>
        </p:nvSpPr>
        <p:spPr>
          <a:xfrm>
            <a:off x="7948726" y="1298448"/>
            <a:ext cx="1012394" cy="59436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9" name="Text 17"/>
          <p:cNvSpPr/>
          <p:nvPr/>
        </p:nvSpPr>
        <p:spPr>
          <a:xfrm>
            <a:off x="8112036" y="1335024"/>
            <a:ext cx="548640" cy="530352"/>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20" name="Shape 18"/>
          <p:cNvSpPr/>
          <p:nvPr/>
        </p:nvSpPr>
        <p:spPr>
          <a:xfrm>
            <a:off x="105056" y="2011680"/>
            <a:ext cx="3229456" cy="594360"/>
          </a:xfrm>
          <a:prstGeom prst="rect">
            <a:avLst/>
          </a:prstGeom>
          <a:solidFill>
            <a:srgbClr val="F8F9FA"/>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1" name="Text 19"/>
          <p:cNvSpPr/>
          <p:nvPr/>
        </p:nvSpPr>
        <p:spPr>
          <a:xfrm>
            <a:off x="178208" y="2048256"/>
            <a:ext cx="3511296" cy="530352"/>
          </a:xfrm>
          <a:prstGeom prst="rect">
            <a:avLst/>
          </a:prstGeom>
          <a:noFill/>
          <a:ln/>
        </p:spPr>
        <p:txBody>
          <a:bodyPr wrap="square" rtlCol="0" anchor="ctr"/>
          <a:lstStyle/>
          <a:p>
            <a:pPr marL="0" indent="0">
              <a:buNone/>
            </a:pPr>
            <a:r>
              <a:rPr lang="en-US" sz="1800" i="1" dirty="0">
                <a:solidFill>
                  <a:srgbClr val="0D1B2A"/>
                </a:solidFill>
                <a:latin typeface="Times New Roman" panose="02020603050405020304" pitchFamily="18" charset="0"/>
                <a:cs typeface="Times New Roman" panose="02020603050405020304" pitchFamily="18" charset="0"/>
              </a:rPr>
              <a:t>"Error code E-47 on rolling mill. What does it mean?"</a:t>
            </a:r>
            <a:endParaRPr lang="en-US" sz="1800" dirty="0">
              <a:latin typeface="Times New Roman" panose="02020603050405020304" pitchFamily="18" charset="0"/>
              <a:cs typeface="Times New Roman" panose="02020603050405020304" pitchFamily="18" charset="0"/>
            </a:endParaRPr>
          </a:p>
        </p:txBody>
      </p:sp>
      <p:sp>
        <p:nvSpPr>
          <p:cNvPr id="22" name="Shape 20"/>
          <p:cNvSpPr/>
          <p:nvPr/>
        </p:nvSpPr>
        <p:spPr>
          <a:xfrm>
            <a:off x="3455144" y="2011680"/>
            <a:ext cx="2011680" cy="594360"/>
          </a:xfrm>
          <a:prstGeom prst="rect">
            <a:avLst/>
          </a:prstGeom>
          <a:solidFill>
            <a:srgbClr val="F8F9FA"/>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3" name="Text 21"/>
          <p:cNvSpPr/>
          <p:nvPr/>
        </p:nvSpPr>
        <p:spPr>
          <a:xfrm>
            <a:off x="3528296" y="2048256"/>
            <a:ext cx="1865376" cy="530352"/>
          </a:xfrm>
          <a:prstGeom prst="rect">
            <a:avLst/>
          </a:prstGeom>
          <a:noFill/>
          <a:ln/>
        </p:spPr>
        <p:txBody>
          <a:bodyPr wrap="square" rtlCol="0" anchor="ctr"/>
          <a:lstStyle/>
          <a:p>
            <a:pPr marL="0" indent="0">
              <a:buNone/>
            </a:pPr>
            <a:r>
              <a:rPr lang="en-US" sz="1800" dirty="0">
                <a:solidFill>
                  <a:srgbClr val="1B4F72"/>
                </a:solidFill>
                <a:latin typeface="Times New Roman" panose="02020603050405020304" pitchFamily="18" charset="0"/>
                <a:cs typeface="Times New Roman" panose="02020603050405020304" pitchFamily="18" charset="0"/>
              </a:rPr>
              <a:t>Maintenance Technician</a:t>
            </a:r>
            <a:endParaRPr lang="en-US" sz="1800" dirty="0">
              <a:latin typeface="Times New Roman" panose="02020603050405020304" pitchFamily="18" charset="0"/>
              <a:cs typeface="Times New Roman" panose="02020603050405020304" pitchFamily="18" charset="0"/>
            </a:endParaRPr>
          </a:p>
        </p:txBody>
      </p:sp>
      <p:sp>
        <p:nvSpPr>
          <p:cNvPr id="24" name="Shape 22"/>
          <p:cNvSpPr/>
          <p:nvPr/>
        </p:nvSpPr>
        <p:spPr>
          <a:xfrm>
            <a:off x="5564775" y="2011680"/>
            <a:ext cx="2286000" cy="594360"/>
          </a:xfrm>
          <a:prstGeom prst="rect">
            <a:avLst/>
          </a:prstGeom>
          <a:solidFill>
            <a:srgbClr val="F8F9FA"/>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5" name="Text 23"/>
          <p:cNvSpPr/>
          <p:nvPr/>
        </p:nvSpPr>
        <p:spPr>
          <a:xfrm>
            <a:off x="5587456" y="2048256"/>
            <a:ext cx="2263319" cy="530352"/>
          </a:xfrm>
          <a:prstGeom prst="rect">
            <a:avLst/>
          </a:prstGeom>
          <a:noFill/>
          <a:ln/>
        </p:spPr>
        <p:txBody>
          <a:bodyPr wrap="square" rtlCol="0" anchor="ctr"/>
          <a:lstStyle/>
          <a:p>
            <a:pPr marL="0" indent="0">
              <a:buNone/>
            </a:pPr>
            <a:r>
              <a:rPr lang="en-US" sz="1600" i="1" dirty="0">
                <a:latin typeface="Times New Roman" panose="02020603050405020304" pitchFamily="18" charset="0"/>
                <a:cs typeface="Times New Roman" panose="02020603050405020304" pitchFamily="18" charset="0"/>
              </a:rPr>
              <a:t>equipment_troubleshooting.txt</a:t>
            </a:r>
            <a:endParaRPr lang="en-US" sz="1600" dirty="0">
              <a:latin typeface="Times New Roman" panose="02020603050405020304" pitchFamily="18" charset="0"/>
              <a:cs typeface="Times New Roman" panose="02020603050405020304" pitchFamily="18" charset="0"/>
            </a:endParaRPr>
          </a:p>
        </p:txBody>
      </p:sp>
      <p:sp>
        <p:nvSpPr>
          <p:cNvPr id="26" name="Shape 24"/>
          <p:cNvSpPr/>
          <p:nvPr/>
        </p:nvSpPr>
        <p:spPr>
          <a:xfrm>
            <a:off x="7948726" y="2011680"/>
            <a:ext cx="1012394" cy="59436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7" name="Text 25"/>
          <p:cNvSpPr/>
          <p:nvPr/>
        </p:nvSpPr>
        <p:spPr>
          <a:xfrm>
            <a:off x="8112036" y="2048256"/>
            <a:ext cx="548640" cy="530352"/>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28" name="Shape 26"/>
          <p:cNvSpPr/>
          <p:nvPr/>
        </p:nvSpPr>
        <p:spPr>
          <a:xfrm>
            <a:off x="105056" y="2724912"/>
            <a:ext cx="3229456"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9" name="Text 27"/>
          <p:cNvSpPr/>
          <p:nvPr/>
        </p:nvSpPr>
        <p:spPr>
          <a:xfrm>
            <a:off x="178208" y="2761488"/>
            <a:ext cx="3511296" cy="530352"/>
          </a:xfrm>
          <a:prstGeom prst="rect">
            <a:avLst/>
          </a:prstGeom>
          <a:noFill/>
          <a:ln/>
        </p:spPr>
        <p:txBody>
          <a:bodyPr wrap="square" rtlCol="0" anchor="ctr"/>
          <a:lstStyle/>
          <a:p>
            <a:pPr marL="0" indent="0">
              <a:buNone/>
            </a:pPr>
            <a:r>
              <a:rPr lang="en-US" sz="1800" i="1" dirty="0">
                <a:solidFill>
                  <a:srgbClr val="0D1B2A"/>
                </a:solidFill>
                <a:latin typeface="Times New Roman" panose="02020603050405020304" pitchFamily="18" charset="0"/>
                <a:cs typeface="Times New Roman" panose="02020603050405020304" pitchFamily="18" charset="0"/>
              </a:rPr>
              <a:t>"What PPE is required in the furnace area?"</a:t>
            </a:r>
            <a:endParaRPr lang="en-US" sz="1800" dirty="0">
              <a:latin typeface="Times New Roman" panose="02020603050405020304" pitchFamily="18" charset="0"/>
              <a:cs typeface="Times New Roman" panose="02020603050405020304" pitchFamily="18" charset="0"/>
            </a:endParaRPr>
          </a:p>
        </p:txBody>
      </p:sp>
      <p:sp>
        <p:nvSpPr>
          <p:cNvPr id="30" name="Shape 28"/>
          <p:cNvSpPr/>
          <p:nvPr/>
        </p:nvSpPr>
        <p:spPr>
          <a:xfrm>
            <a:off x="3455144" y="2724912"/>
            <a:ext cx="2011680"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1" name="Text 29"/>
          <p:cNvSpPr/>
          <p:nvPr/>
        </p:nvSpPr>
        <p:spPr>
          <a:xfrm>
            <a:off x="3528296" y="2761488"/>
            <a:ext cx="1865376" cy="530352"/>
          </a:xfrm>
          <a:prstGeom prst="rect">
            <a:avLst/>
          </a:prstGeom>
          <a:noFill/>
          <a:ln/>
        </p:spPr>
        <p:txBody>
          <a:bodyPr wrap="square" rtlCol="0" anchor="ctr"/>
          <a:lstStyle/>
          <a:p>
            <a:pPr marL="0" indent="0">
              <a:buNone/>
            </a:pPr>
            <a:r>
              <a:rPr lang="en-US" sz="1800" dirty="0">
                <a:solidFill>
                  <a:srgbClr val="1B4F72"/>
                </a:solidFill>
                <a:latin typeface="Times New Roman" panose="02020603050405020304" pitchFamily="18" charset="0"/>
                <a:cs typeface="Times New Roman" panose="02020603050405020304" pitchFamily="18" charset="0"/>
              </a:rPr>
              <a:t>Shopfloor Employee</a:t>
            </a:r>
            <a:endParaRPr lang="en-US" sz="1800" dirty="0">
              <a:latin typeface="Times New Roman" panose="02020603050405020304" pitchFamily="18" charset="0"/>
              <a:cs typeface="Times New Roman" panose="02020603050405020304" pitchFamily="18" charset="0"/>
            </a:endParaRPr>
          </a:p>
        </p:txBody>
      </p:sp>
      <p:sp>
        <p:nvSpPr>
          <p:cNvPr id="32" name="Shape 30"/>
          <p:cNvSpPr/>
          <p:nvPr/>
        </p:nvSpPr>
        <p:spPr>
          <a:xfrm>
            <a:off x="5564775" y="2724912"/>
            <a:ext cx="2286000"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3" name="Text 31"/>
          <p:cNvSpPr/>
          <p:nvPr/>
        </p:nvSpPr>
        <p:spPr>
          <a:xfrm>
            <a:off x="5587456" y="2761488"/>
            <a:ext cx="2263319" cy="530352"/>
          </a:xfrm>
          <a:prstGeom prst="rect">
            <a:avLst/>
          </a:prstGeom>
          <a:noFill/>
          <a:ln/>
        </p:spPr>
        <p:txBody>
          <a:bodyPr wrap="square" rtlCol="0" anchor="ctr"/>
          <a:lstStyle/>
          <a:p>
            <a:pPr marL="0" indent="0">
              <a:buNone/>
            </a:pPr>
            <a:r>
              <a:rPr lang="en-US" sz="1600" i="1" dirty="0">
                <a:latin typeface="Times New Roman" panose="02020603050405020304" pitchFamily="18" charset="0"/>
                <a:cs typeface="Times New Roman" panose="02020603050405020304" pitchFamily="18" charset="0"/>
              </a:rPr>
              <a:t>safety_procedures.txt</a:t>
            </a:r>
            <a:endParaRPr lang="en-US" sz="1600" dirty="0">
              <a:latin typeface="Times New Roman" panose="02020603050405020304" pitchFamily="18" charset="0"/>
              <a:cs typeface="Times New Roman" panose="02020603050405020304" pitchFamily="18" charset="0"/>
            </a:endParaRPr>
          </a:p>
        </p:txBody>
      </p:sp>
      <p:sp>
        <p:nvSpPr>
          <p:cNvPr id="34" name="Shape 32"/>
          <p:cNvSpPr/>
          <p:nvPr/>
        </p:nvSpPr>
        <p:spPr>
          <a:xfrm>
            <a:off x="7948726" y="2724912"/>
            <a:ext cx="1012394" cy="59436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5" name="Text 33"/>
          <p:cNvSpPr/>
          <p:nvPr/>
        </p:nvSpPr>
        <p:spPr>
          <a:xfrm>
            <a:off x="8112036" y="2761488"/>
            <a:ext cx="548640" cy="530352"/>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36" name="Shape 34"/>
          <p:cNvSpPr/>
          <p:nvPr/>
        </p:nvSpPr>
        <p:spPr>
          <a:xfrm>
            <a:off x="105056" y="3438144"/>
            <a:ext cx="3229456" cy="594360"/>
          </a:xfrm>
          <a:prstGeom prst="rect">
            <a:avLst/>
          </a:prstGeom>
          <a:solidFill>
            <a:srgbClr val="F8F9FA"/>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7" name="Text 35"/>
          <p:cNvSpPr/>
          <p:nvPr/>
        </p:nvSpPr>
        <p:spPr>
          <a:xfrm>
            <a:off x="178208" y="3474720"/>
            <a:ext cx="3178985" cy="530352"/>
          </a:xfrm>
          <a:prstGeom prst="rect">
            <a:avLst/>
          </a:prstGeom>
          <a:noFill/>
          <a:ln/>
        </p:spPr>
        <p:txBody>
          <a:bodyPr wrap="square" rtlCol="0" anchor="ctr"/>
          <a:lstStyle/>
          <a:p>
            <a:pPr marL="0" indent="0">
              <a:buNone/>
            </a:pPr>
            <a:r>
              <a:rPr lang="en-US" sz="1800" i="1" dirty="0">
                <a:solidFill>
                  <a:srgbClr val="0D1B2A"/>
                </a:solidFill>
                <a:latin typeface="Times New Roman" panose="02020603050405020304" pitchFamily="18" charset="0"/>
                <a:cs typeface="Times New Roman" panose="02020603050405020304" pitchFamily="18" charset="0"/>
              </a:rPr>
              <a:t>"Show training completion status for my team"</a:t>
            </a:r>
            <a:endParaRPr lang="en-US" sz="1800" dirty="0">
              <a:latin typeface="Times New Roman" panose="02020603050405020304" pitchFamily="18" charset="0"/>
              <a:cs typeface="Times New Roman" panose="02020603050405020304" pitchFamily="18" charset="0"/>
            </a:endParaRPr>
          </a:p>
        </p:txBody>
      </p:sp>
      <p:sp>
        <p:nvSpPr>
          <p:cNvPr id="38" name="Shape 36"/>
          <p:cNvSpPr/>
          <p:nvPr/>
        </p:nvSpPr>
        <p:spPr>
          <a:xfrm>
            <a:off x="3455144" y="3438144"/>
            <a:ext cx="2011680" cy="594360"/>
          </a:xfrm>
          <a:prstGeom prst="rect">
            <a:avLst/>
          </a:prstGeom>
          <a:solidFill>
            <a:srgbClr val="F8F9FA"/>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9" name="Text 37"/>
          <p:cNvSpPr/>
          <p:nvPr/>
        </p:nvSpPr>
        <p:spPr>
          <a:xfrm>
            <a:off x="3528296" y="3474720"/>
            <a:ext cx="1865376" cy="530352"/>
          </a:xfrm>
          <a:prstGeom prst="rect">
            <a:avLst/>
          </a:prstGeom>
          <a:noFill/>
          <a:ln/>
        </p:spPr>
        <p:txBody>
          <a:bodyPr wrap="square" rtlCol="0" anchor="ctr"/>
          <a:lstStyle/>
          <a:p>
            <a:pPr marL="0" indent="0">
              <a:buNone/>
            </a:pPr>
            <a:r>
              <a:rPr lang="en-US" sz="1800" dirty="0">
                <a:solidFill>
                  <a:srgbClr val="1B4F72"/>
                </a:solidFill>
                <a:latin typeface="Times New Roman" panose="02020603050405020304" pitchFamily="18" charset="0"/>
                <a:cs typeface="Times New Roman" panose="02020603050405020304" pitchFamily="18" charset="0"/>
              </a:rPr>
              <a:t>L&amp;D Manager</a:t>
            </a:r>
            <a:endParaRPr lang="en-US" sz="1800" dirty="0">
              <a:latin typeface="Times New Roman" panose="02020603050405020304" pitchFamily="18" charset="0"/>
              <a:cs typeface="Times New Roman" panose="02020603050405020304" pitchFamily="18" charset="0"/>
            </a:endParaRPr>
          </a:p>
        </p:txBody>
      </p:sp>
      <p:sp>
        <p:nvSpPr>
          <p:cNvPr id="40" name="Shape 38"/>
          <p:cNvSpPr/>
          <p:nvPr/>
        </p:nvSpPr>
        <p:spPr>
          <a:xfrm>
            <a:off x="5564775" y="3438144"/>
            <a:ext cx="2286000" cy="594360"/>
          </a:xfrm>
          <a:prstGeom prst="rect">
            <a:avLst/>
          </a:prstGeom>
          <a:solidFill>
            <a:srgbClr val="F8F9FA"/>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1" name="Text 39"/>
          <p:cNvSpPr/>
          <p:nvPr/>
        </p:nvSpPr>
        <p:spPr>
          <a:xfrm>
            <a:off x="5587456" y="3474720"/>
            <a:ext cx="2263319" cy="530352"/>
          </a:xfrm>
          <a:prstGeom prst="rect">
            <a:avLst/>
          </a:prstGeom>
          <a:noFill/>
          <a:ln/>
        </p:spPr>
        <p:txBody>
          <a:bodyPr wrap="square" rtlCol="0" anchor="ctr"/>
          <a:lstStyle/>
          <a:p>
            <a:pPr marL="0" indent="0">
              <a:buNone/>
            </a:pPr>
            <a:r>
              <a:rPr lang="en-US" sz="1600" i="1" dirty="0">
                <a:latin typeface="Times New Roman" panose="02020603050405020304" pitchFamily="18" charset="0"/>
                <a:cs typeface="Times New Roman" panose="02020603050405020304" pitchFamily="18" charset="0"/>
              </a:rPr>
              <a:t>training_modules.txt</a:t>
            </a:r>
            <a:endParaRPr lang="en-US" sz="1600" dirty="0">
              <a:latin typeface="Times New Roman" panose="02020603050405020304" pitchFamily="18" charset="0"/>
              <a:cs typeface="Times New Roman" panose="02020603050405020304" pitchFamily="18" charset="0"/>
            </a:endParaRPr>
          </a:p>
        </p:txBody>
      </p:sp>
      <p:sp>
        <p:nvSpPr>
          <p:cNvPr id="42" name="Shape 40"/>
          <p:cNvSpPr/>
          <p:nvPr/>
        </p:nvSpPr>
        <p:spPr>
          <a:xfrm>
            <a:off x="7948726" y="3438144"/>
            <a:ext cx="1012394" cy="59436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3" name="Text 41"/>
          <p:cNvSpPr/>
          <p:nvPr/>
        </p:nvSpPr>
        <p:spPr>
          <a:xfrm>
            <a:off x="8112036" y="3474720"/>
            <a:ext cx="548640" cy="530352"/>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44" name="Shape 42"/>
          <p:cNvSpPr/>
          <p:nvPr/>
        </p:nvSpPr>
        <p:spPr>
          <a:xfrm>
            <a:off x="105056" y="4151376"/>
            <a:ext cx="3229456"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5" name="Text 43"/>
          <p:cNvSpPr/>
          <p:nvPr/>
        </p:nvSpPr>
        <p:spPr>
          <a:xfrm>
            <a:off x="178208" y="4187952"/>
            <a:ext cx="3156304" cy="530352"/>
          </a:xfrm>
          <a:prstGeom prst="rect">
            <a:avLst/>
          </a:prstGeom>
          <a:noFill/>
          <a:ln/>
        </p:spPr>
        <p:txBody>
          <a:bodyPr wrap="square" rtlCol="0" anchor="ctr"/>
          <a:lstStyle/>
          <a:p>
            <a:pPr marL="0" indent="0">
              <a:buNone/>
            </a:pPr>
            <a:r>
              <a:rPr lang="en-US" sz="1800" i="1" dirty="0">
                <a:solidFill>
                  <a:srgbClr val="0D1B2A"/>
                </a:solidFill>
                <a:latin typeface="Times New Roman" panose="02020603050405020304" pitchFamily="18" charset="0"/>
                <a:cs typeface="Times New Roman" panose="02020603050405020304" pitchFamily="18" charset="0"/>
              </a:rPr>
              <a:t>"What is the salary structure at Tata Steel?"</a:t>
            </a:r>
            <a:endParaRPr lang="en-US" sz="1800" dirty="0">
              <a:latin typeface="Times New Roman" panose="02020603050405020304" pitchFamily="18" charset="0"/>
              <a:cs typeface="Times New Roman" panose="02020603050405020304" pitchFamily="18" charset="0"/>
            </a:endParaRPr>
          </a:p>
        </p:txBody>
      </p:sp>
      <p:sp>
        <p:nvSpPr>
          <p:cNvPr id="46" name="Shape 44"/>
          <p:cNvSpPr/>
          <p:nvPr/>
        </p:nvSpPr>
        <p:spPr>
          <a:xfrm>
            <a:off x="3455144" y="4151376"/>
            <a:ext cx="2011680"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7" name="Text 45"/>
          <p:cNvSpPr/>
          <p:nvPr/>
        </p:nvSpPr>
        <p:spPr>
          <a:xfrm>
            <a:off x="3528296" y="4187952"/>
            <a:ext cx="1865376" cy="530352"/>
          </a:xfrm>
          <a:prstGeom prst="rect">
            <a:avLst/>
          </a:prstGeom>
          <a:noFill/>
          <a:ln/>
        </p:spPr>
        <p:txBody>
          <a:bodyPr wrap="square" rtlCol="0" anchor="ctr"/>
          <a:lstStyle/>
          <a:p>
            <a:r>
              <a:rPr lang="en-US" dirty="0">
                <a:solidFill>
                  <a:srgbClr val="1B4F72"/>
                </a:solidFill>
                <a:latin typeface="Times New Roman" panose="02020603050405020304" pitchFamily="18" charset="0"/>
                <a:cs typeface="Times New Roman" panose="02020603050405020304" pitchFamily="18" charset="0"/>
              </a:rPr>
              <a:t>Out of Scope</a:t>
            </a:r>
            <a:endParaRPr lang="en-US" sz="1800" dirty="0">
              <a:latin typeface="Times New Roman" panose="02020603050405020304" pitchFamily="18" charset="0"/>
              <a:cs typeface="Times New Roman" panose="02020603050405020304" pitchFamily="18" charset="0"/>
            </a:endParaRPr>
          </a:p>
        </p:txBody>
      </p:sp>
      <p:sp>
        <p:nvSpPr>
          <p:cNvPr id="48" name="Shape 46"/>
          <p:cNvSpPr/>
          <p:nvPr/>
        </p:nvSpPr>
        <p:spPr>
          <a:xfrm>
            <a:off x="5564775" y="4151376"/>
            <a:ext cx="2286000" cy="594360"/>
          </a:xfrm>
          <a:prstGeom prst="rect">
            <a:avLst/>
          </a:prstGeom>
          <a:solidFill>
            <a:srgbClr val="FFFFFF"/>
          </a:solidFill>
          <a:ln w="12700">
            <a:solidFill>
              <a:srgbClr val="DDDDDD"/>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9" name="Text 47"/>
          <p:cNvSpPr/>
          <p:nvPr/>
        </p:nvSpPr>
        <p:spPr>
          <a:xfrm>
            <a:off x="5564775" y="4187952"/>
            <a:ext cx="2359152" cy="530352"/>
          </a:xfrm>
          <a:prstGeom prst="rect">
            <a:avLst/>
          </a:prstGeom>
          <a:noFill/>
          <a:ln/>
        </p:spPr>
        <p:txBody>
          <a:bodyPr wrap="square" rtlCol="0" anchor="ctr"/>
          <a:lstStyle/>
          <a:p>
            <a:pPr marL="0" indent="0">
              <a:buNone/>
            </a:pPr>
            <a:r>
              <a:rPr lang="en-US" sz="1600" i="1" dirty="0">
                <a:latin typeface="Times New Roman" panose="02020603050405020304" pitchFamily="18" charset="0"/>
                <a:cs typeface="Times New Roman" panose="02020603050405020304" pitchFamily="18" charset="0"/>
              </a:rPr>
              <a:t>None — correctly refused</a:t>
            </a:r>
            <a:endParaRPr lang="en-US" sz="1600" dirty="0">
              <a:latin typeface="Times New Roman" panose="02020603050405020304" pitchFamily="18" charset="0"/>
              <a:cs typeface="Times New Roman" panose="02020603050405020304" pitchFamily="18" charset="0"/>
            </a:endParaRPr>
          </a:p>
        </p:txBody>
      </p:sp>
      <p:sp>
        <p:nvSpPr>
          <p:cNvPr id="50" name="Shape 48"/>
          <p:cNvSpPr/>
          <p:nvPr/>
        </p:nvSpPr>
        <p:spPr>
          <a:xfrm>
            <a:off x="7948726" y="4151376"/>
            <a:ext cx="1012394" cy="59436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1" name="Text 49"/>
          <p:cNvSpPr/>
          <p:nvPr/>
        </p:nvSpPr>
        <p:spPr>
          <a:xfrm>
            <a:off x="8112036" y="4187952"/>
            <a:ext cx="548640" cy="530352"/>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55" name="Shape 42">
            <a:extLst>
              <a:ext uri="{FF2B5EF4-FFF2-40B4-BE49-F238E27FC236}">
                <a16:creationId xmlns:a16="http://schemas.microsoft.com/office/drawing/2014/main" id="{1FA6BCE9-6CFD-43C3-5F35-1316C2664D6D}"/>
              </a:ext>
            </a:extLst>
          </p:cNvPr>
          <p:cNvSpPr/>
          <p:nvPr/>
        </p:nvSpPr>
        <p:spPr>
          <a:xfrm>
            <a:off x="182880" y="4773168"/>
            <a:ext cx="8778240" cy="278892"/>
          </a:xfrm>
          <a:prstGeom prst="rect">
            <a:avLst/>
          </a:prstGeom>
          <a:solidFill>
            <a:srgbClr val="0D1B2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7" name="Text 43">
            <a:extLst>
              <a:ext uri="{FF2B5EF4-FFF2-40B4-BE49-F238E27FC236}">
                <a16:creationId xmlns:a16="http://schemas.microsoft.com/office/drawing/2014/main" id="{C2708278-9A29-B307-E282-74A0878E05E1}"/>
              </a:ext>
            </a:extLst>
          </p:cNvPr>
          <p:cNvSpPr/>
          <p:nvPr/>
        </p:nvSpPr>
        <p:spPr>
          <a:xfrm>
            <a:off x="176348" y="4821174"/>
            <a:ext cx="8693331" cy="182880"/>
          </a:xfrm>
          <a:prstGeom prst="rect">
            <a:avLst/>
          </a:prstGeom>
          <a:noFill/>
          <a:ln/>
        </p:spPr>
        <p:txBody>
          <a:bodyPr wrap="square" rtlCol="0" anchor="ctr"/>
          <a:lstStyle/>
          <a:p>
            <a:pPr algn="ctr"/>
            <a:r>
              <a:rPr lang="en-IN" sz="1400" i="1" dirty="0">
                <a:solidFill>
                  <a:srgbClr val="F39C12"/>
                </a:solidFill>
                <a:latin typeface="Times New Roman" panose="02020603050405020304" pitchFamily="18" charset="0"/>
                <a:cs typeface="Times New Roman" panose="02020603050405020304" pitchFamily="18" charset="0"/>
              </a:rPr>
              <a:t>TataBot successfully handled role-based queries and refused unsupported questions.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844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CONCLUSION &amp; FUTURE ROADMAP</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82880" y="777240"/>
            <a:ext cx="4206240" cy="4087368"/>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274320" y="868680"/>
            <a:ext cx="4023360" cy="347472"/>
          </a:xfrm>
          <a:prstGeom prst="rect">
            <a:avLst/>
          </a:prstGeom>
          <a:noFill/>
          <a:ln/>
        </p:spPr>
        <p:txBody>
          <a:bodyPr wrap="square" rtlCol="0" anchor="ctr"/>
          <a:lstStyle/>
          <a:p>
            <a:pPr marL="0" indent="0">
              <a:buNone/>
            </a:pPr>
            <a:r>
              <a:rPr lang="en-US" sz="2400" b="1" dirty="0">
                <a:solidFill>
                  <a:srgbClr val="1E8449"/>
                </a:solidFill>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274320" y="1345473"/>
            <a:ext cx="4023360" cy="457200"/>
          </a:xfrm>
          <a:prstGeom prst="rect">
            <a:avLst/>
          </a:prstGeom>
          <a:noFill/>
          <a:ln/>
        </p:spPr>
        <p:txBody>
          <a:bodyPr wrap="square" rtlCol="0" anchor="ctr"/>
          <a:lstStyle/>
          <a:p>
            <a:r>
              <a:rPr lang="en-US" sz="2000" dirty="0">
                <a:solidFill>
                  <a:srgbClr val="FFFFFF"/>
                </a:solidFill>
                <a:latin typeface="Times New Roman" panose="02020603050405020304" pitchFamily="18" charset="0"/>
                <a:cs typeface="Times New Roman" panose="02020603050405020304" pitchFamily="18" charset="0"/>
              </a:rPr>
              <a:t>✓  TataBot provides personalised,  </a:t>
            </a:r>
          </a:p>
          <a:p>
            <a:r>
              <a:rPr lang="en-US" sz="2000" dirty="0">
                <a:solidFill>
                  <a:srgbClr val="FFFFFF"/>
                </a:solidFill>
                <a:latin typeface="Times New Roman" panose="02020603050405020304" pitchFamily="18" charset="0"/>
                <a:cs typeface="Times New Roman" panose="02020603050405020304" pitchFamily="18" charset="0"/>
              </a:rPr>
              <a:t>     on-demand L&amp;D support.</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274320" y="1892808"/>
            <a:ext cx="4297680" cy="719763"/>
          </a:xfrm>
          <a:prstGeom prst="rect">
            <a:avLst/>
          </a:prstGeom>
          <a:noFill/>
          <a:ln/>
        </p:spPr>
        <p:txBody>
          <a:bodyPr wrap="square" rtlCol="0" anchor="ctr"/>
          <a:lstStyle/>
          <a:p>
            <a:r>
              <a:rPr lang="en-US" sz="2000" dirty="0">
                <a:solidFill>
                  <a:srgbClr val="FFFFFF"/>
                </a:solidFill>
                <a:latin typeface="Times New Roman" panose="02020603050405020304" pitchFamily="18" charset="0"/>
                <a:cs typeface="Times New Roman" panose="02020603050405020304" pitchFamily="18" charset="0"/>
              </a:rPr>
              <a:t>✓  </a:t>
            </a:r>
            <a:r>
              <a:rPr lang="en-IN" sz="2000" dirty="0">
                <a:solidFill>
                  <a:srgbClr val="FFFFFF"/>
                </a:solidFill>
                <a:latin typeface="Times New Roman" panose="02020603050405020304" pitchFamily="18" charset="0"/>
                <a:cs typeface="Times New Roman" panose="02020603050405020304" pitchFamily="18" charset="0"/>
              </a:rPr>
              <a:t>RAG helps generate responses </a:t>
            </a:r>
          </a:p>
          <a:p>
            <a:r>
              <a:rPr lang="en-IN" sz="2000" dirty="0">
                <a:solidFill>
                  <a:srgbClr val="FFFFFF"/>
                </a:solidFill>
                <a:latin typeface="Times New Roman" panose="02020603050405020304" pitchFamily="18" charset="0"/>
                <a:cs typeface="Times New Roman" panose="02020603050405020304" pitchFamily="18" charset="0"/>
              </a:rPr>
              <a:t>     using the available knowledge base.</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274320" y="2693121"/>
            <a:ext cx="4023360" cy="457200"/>
          </a:xfrm>
          <a:prstGeom prst="rect">
            <a:avLst/>
          </a:prstGeom>
          <a:noFill/>
          <a:ln/>
        </p:spPr>
        <p:txBody>
          <a:bodyPr wrap="square" rtlCol="0" anchor="ctr"/>
          <a:lstStyle/>
          <a:p>
            <a:r>
              <a:rPr lang="en-US" sz="2000" dirty="0">
                <a:solidFill>
                  <a:srgbClr val="FFFFFF"/>
                </a:solidFill>
                <a:latin typeface="Times New Roman" panose="02020603050405020304" pitchFamily="18" charset="0"/>
                <a:cs typeface="Times New Roman" panose="02020603050405020304" pitchFamily="18" charset="0"/>
              </a:rPr>
              <a:t>✓  </a:t>
            </a:r>
            <a:r>
              <a:rPr lang="en-IN" sz="2000" dirty="0">
                <a:solidFill>
                  <a:srgbClr val="FFFFFF"/>
                </a:solidFill>
                <a:latin typeface="Times New Roman" panose="02020603050405020304" pitchFamily="18" charset="0"/>
                <a:cs typeface="Times New Roman" panose="02020603050405020304" pitchFamily="18" charset="0"/>
              </a:rPr>
              <a:t>Role detection supports different </a:t>
            </a:r>
          </a:p>
          <a:p>
            <a:r>
              <a:rPr lang="en-IN" sz="2000" dirty="0">
                <a:solidFill>
                  <a:srgbClr val="FFFFFF"/>
                </a:solidFill>
                <a:latin typeface="Times New Roman" panose="02020603050405020304" pitchFamily="18" charset="0"/>
                <a:cs typeface="Times New Roman" panose="02020603050405020304" pitchFamily="18" charset="0"/>
              </a:rPr>
              <a:t>     types of users.</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274319" y="3337990"/>
            <a:ext cx="4206240" cy="457200"/>
          </a:xfrm>
          <a:prstGeom prst="rect">
            <a:avLst/>
          </a:prstGeom>
          <a:noFill/>
          <a:ln/>
        </p:spPr>
        <p:txBody>
          <a:bodyPr wrap="square" rtlCol="0" anchor="ctr"/>
          <a:lstStyle/>
          <a:p>
            <a:r>
              <a:rPr lang="en-US" sz="2000" dirty="0">
                <a:solidFill>
                  <a:srgbClr val="FFFFFF"/>
                </a:solidFill>
                <a:latin typeface="Times New Roman" panose="02020603050405020304" pitchFamily="18" charset="0"/>
                <a:cs typeface="Times New Roman" panose="02020603050405020304" pitchFamily="18" charset="0"/>
              </a:rPr>
              <a:t>✓  </a:t>
            </a:r>
            <a:r>
              <a:rPr lang="en-IN" sz="2000" dirty="0">
                <a:solidFill>
                  <a:srgbClr val="FFFFFF"/>
                </a:solidFill>
                <a:latin typeface="Times New Roman" panose="02020603050405020304" pitchFamily="18" charset="0"/>
                <a:cs typeface="Times New Roman" panose="02020603050405020304" pitchFamily="18" charset="0"/>
              </a:rPr>
              <a:t>Source citation improves </a:t>
            </a:r>
          </a:p>
          <a:p>
            <a:r>
              <a:rPr lang="en-IN" sz="2000" dirty="0">
                <a:solidFill>
                  <a:srgbClr val="FFFFFF"/>
                </a:solidFill>
                <a:latin typeface="Times New Roman" panose="02020603050405020304" pitchFamily="18" charset="0"/>
                <a:cs typeface="Times New Roman" panose="02020603050405020304" pitchFamily="18" charset="0"/>
              </a:rPr>
              <a:t>     transparency and trust.</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274320" y="3935623"/>
            <a:ext cx="4023360" cy="845820"/>
          </a:xfrm>
          <a:prstGeom prst="rect">
            <a:avLst/>
          </a:prstGeom>
          <a:noFill/>
          <a:ln/>
        </p:spPr>
        <p:txBody>
          <a:bodyPr wrap="square" rtlCol="0" anchor="ctr"/>
          <a:lstStyle/>
          <a:p>
            <a:r>
              <a:rPr lang="en-US" sz="2000" dirty="0">
                <a:solidFill>
                  <a:srgbClr val="FFFFFF"/>
                </a:solidFill>
                <a:latin typeface="Times New Roman" panose="02020603050405020304" pitchFamily="18" charset="0"/>
                <a:cs typeface="Times New Roman" panose="02020603050405020304" pitchFamily="18" charset="0"/>
              </a:rPr>
              <a:t>✓  </a:t>
            </a:r>
            <a:r>
              <a:rPr lang="en-IN" sz="2000" dirty="0">
                <a:solidFill>
                  <a:srgbClr val="FFFFFF"/>
                </a:solidFill>
                <a:latin typeface="Times New Roman" panose="02020603050405020304" pitchFamily="18" charset="0"/>
                <a:cs typeface="Times New Roman" panose="02020603050405020304" pitchFamily="18" charset="0"/>
              </a:rPr>
              <a:t>The prototype demonstrates </a:t>
            </a:r>
          </a:p>
          <a:p>
            <a:r>
              <a:rPr lang="en-IN" sz="2000" dirty="0">
                <a:solidFill>
                  <a:srgbClr val="FFFFFF"/>
                </a:solidFill>
                <a:latin typeface="Times New Roman" panose="02020603050405020304" pitchFamily="18" charset="0"/>
                <a:cs typeface="Times New Roman" panose="02020603050405020304" pitchFamily="18" charset="0"/>
              </a:rPr>
              <a:t>     training, safety and </a:t>
            </a:r>
          </a:p>
          <a:p>
            <a:r>
              <a:rPr lang="en-IN" sz="2000" dirty="0">
                <a:solidFill>
                  <a:srgbClr val="FFFFFF"/>
                </a:solidFill>
                <a:latin typeface="Times New Roman" panose="02020603050405020304" pitchFamily="18" charset="0"/>
                <a:cs typeface="Times New Roman" panose="02020603050405020304" pitchFamily="18" charset="0"/>
              </a:rPr>
              <a:t>     troubleshooting support.</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4663440" y="777240"/>
            <a:ext cx="4297680" cy="4069080"/>
          </a:xfrm>
          <a:prstGeom prst="rect">
            <a:avLst/>
          </a:prstGeom>
          <a:solidFill>
            <a:srgbClr val="1A2A3A"/>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1"/>
          <p:cNvSpPr/>
          <p:nvPr/>
        </p:nvSpPr>
        <p:spPr>
          <a:xfrm>
            <a:off x="4754880" y="868680"/>
            <a:ext cx="4114800" cy="347472"/>
          </a:xfrm>
          <a:prstGeom prst="rect">
            <a:avLst/>
          </a:prstGeom>
          <a:noFill/>
          <a:ln/>
        </p:spPr>
        <p:txBody>
          <a:bodyPr wrap="square" rtlCol="0" anchor="ctr"/>
          <a:lstStyle/>
          <a:p>
            <a:pPr marL="0" indent="0">
              <a:buNone/>
            </a:pPr>
            <a:r>
              <a:rPr lang="en-US" sz="2400" b="1" dirty="0">
                <a:solidFill>
                  <a:srgbClr val="F39C12"/>
                </a:solidFill>
                <a:latin typeface="Times New Roman" panose="02020603050405020304" pitchFamily="18" charset="0"/>
                <a:cs typeface="Times New Roman" panose="02020603050405020304" pitchFamily="18" charset="0"/>
              </a:rPr>
              <a:t>FUTURE ROADMAP</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4754880" y="1325880"/>
            <a:ext cx="4114800" cy="292608"/>
          </a:xfrm>
          <a:prstGeom prst="rect">
            <a:avLst/>
          </a:prstGeom>
          <a:noFill/>
          <a:ln/>
        </p:spPr>
        <p:txBody>
          <a:bodyPr wrap="square" rtlCol="0" anchor="ctr"/>
          <a:lstStyle/>
          <a:p>
            <a:pPr marL="0" indent="0">
              <a:buNone/>
            </a:pPr>
            <a:r>
              <a:rPr lang="en-US" sz="2200" b="1" dirty="0">
                <a:solidFill>
                  <a:srgbClr val="F39C12"/>
                </a:solidFill>
                <a:latin typeface="Times New Roman" panose="02020603050405020304" pitchFamily="18" charset="0"/>
                <a:cs typeface="Times New Roman" panose="02020603050405020304" pitchFamily="18" charset="0"/>
              </a:rPr>
              <a:t>Phase 1 ✅</a:t>
            </a:r>
            <a:endParaRPr lang="en-US" sz="2200" dirty="0">
              <a:latin typeface="Times New Roman" panose="02020603050405020304" pitchFamily="18" charset="0"/>
              <a:cs typeface="Times New Roman" panose="02020603050405020304" pitchFamily="18" charset="0"/>
            </a:endParaRPr>
          </a:p>
        </p:txBody>
      </p:sp>
      <p:sp>
        <p:nvSpPr>
          <p:cNvPr id="15" name="Text 13"/>
          <p:cNvSpPr/>
          <p:nvPr/>
        </p:nvSpPr>
        <p:spPr>
          <a:xfrm>
            <a:off x="4754880" y="1618488"/>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Web chatbot</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4754880" y="1892808"/>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3 knowledge documents</a:t>
            </a:r>
            <a:endParaRPr lang="en-US" sz="2000" dirty="0">
              <a:latin typeface="Times New Roman" panose="02020603050405020304" pitchFamily="18" charset="0"/>
              <a:cs typeface="Times New Roman" panose="02020603050405020304" pitchFamily="18" charset="0"/>
            </a:endParaRPr>
          </a:p>
        </p:txBody>
      </p:sp>
      <p:sp>
        <p:nvSpPr>
          <p:cNvPr id="17" name="Text 15"/>
          <p:cNvSpPr/>
          <p:nvPr/>
        </p:nvSpPr>
        <p:spPr>
          <a:xfrm>
            <a:off x="4754880" y="2167128"/>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Role detection</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4754880" y="2532888"/>
            <a:ext cx="4114800" cy="292608"/>
          </a:xfrm>
          <a:prstGeom prst="rect">
            <a:avLst/>
          </a:prstGeom>
          <a:noFill/>
          <a:ln/>
        </p:spPr>
        <p:txBody>
          <a:bodyPr wrap="square" rtlCol="0" anchor="ctr"/>
          <a:lstStyle/>
          <a:p>
            <a:pPr marL="0" indent="0">
              <a:buNone/>
            </a:pPr>
            <a:r>
              <a:rPr lang="en-US" sz="2200" b="1" dirty="0">
                <a:solidFill>
                  <a:srgbClr val="2E86C1"/>
                </a:solidFill>
                <a:latin typeface="Times New Roman" panose="02020603050405020304" pitchFamily="18" charset="0"/>
                <a:cs typeface="Times New Roman" panose="02020603050405020304" pitchFamily="18" charset="0"/>
              </a:rPr>
              <a:t>Phase 2</a:t>
            </a:r>
            <a:endParaRPr lang="en-US" sz="2200" dirty="0">
              <a:latin typeface="Times New Roman" panose="02020603050405020304" pitchFamily="18" charset="0"/>
              <a:cs typeface="Times New Roman" panose="02020603050405020304" pitchFamily="18" charset="0"/>
            </a:endParaRPr>
          </a:p>
        </p:txBody>
      </p:sp>
      <p:sp>
        <p:nvSpPr>
          <p:cNvPr id="19" name="Text 17"/>
          <p:cNvSpPr/>
          <p:nvPr/>
        </p:nvSpPr>
        <p:spPr>
          <a:xfrm>
            <a:off x="4754880" y="2825496"/>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Real PDF integration</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4754880" y="3099816"/>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Voice input</a:t>
            </a:r>
            <a:endParaRPr lang="en-US" sz="2000" dirty="0">
              <a:latin typeface="Times New Roman" panose="02020603050405020304" pitchFamily="18" charset="0"/>
              <a:cs typeface="Times New Roman" panose="02020603050405020304" pitchFamily="18" charset="0"/>
            </a:endParaRPr>
          </a:p>
        </p:txBody>
      </p:sp>
      <p:sp>
        <p:nvSpPr>
          <p:cNvPr id="21" name="Text 19"/>
          <p:cNvSpPr/>
          <p:nvPr/>
        </p:nvSpPr>
        <p:spPr>
          <a:xfrm>
            <a:off x="4754880" y="3374136"/>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Hindi support</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4754880" y="3675672"/>
            <a:ext cx="4114800" cy="292608"/>
          </a:xfrm>
          <a:prstGeom prst="rect">
            <a:avLst/>
          </a:prstGeom>
          <a:noFill/>
          <a:ln/>
        </p:spPr>
        <p:txBody>
          <a:bodyPr wrap="square" rtlCol="0" anchor="ctr"/>
          <a:lstStyle/>
          <a:p>
            <a:pPr marL="0" indent="0">
              <a:buNone/>
            </a:pPr>
            <a:r>
              <a:rPr lang="en-US" sz="2200" b="1" dirty="0">
                <a:solidFill>
                  <a:srgbClr val="1E8449"/>
                </a:solidFill>
                <a:latin typeface="Times New Roman" panose="02020603050405020304" pitchFamily="18" charset="0"/>
                <a:cs typeface="Times New Roman" panose="02020603050405020304" pitchFamily="18" charset="0"/>
              </a:rPr>
              <a:t>Phase 3</a:t>
            </a:r>
            <a:endParaRPr lang="en-US" sz="2200" dirty="0">
              <a:latin typeface="Times New Roman" panose="02020603050405020304" pitchFamily="18" charset="0"/>
              <a:cs typeface="Times New Roman" panose="02020603050405020304" pitchFamily="18" charset="0"/>
            </a:endParaRPr>
          </a:p>
        </p:txBody>
      </p:sp>
      <p:sp>
        <p:nvSpPr>
          <p:cNvPr id="23" name="Text 21"/>
          <p:cNvSpPr/>
          <p:nvPr/>
        </p:nvSpPr>
        <p:spPr>
          <a:xfrm>
            <a:off x="4754880" y="3983520"/>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LMS integration</a:t>
            </a:r>
            <a:endParaRPr lang="en-US" sz="2000" dirty="0">
              <a:latin typeface="Times New Roman" panose="02020603050405020304" pitchFamily="18" charset="0"/>
              <a:cs typeface="Times New Roman" panose="02020603050405020304" pitchFamily="18" charset="0"/>
            </a:endParaRPr>
          </a:p>
        </p:txBody>
      </p:sp>
      <p:sp>
        <p:nvSpPr>
          <p:cNvPr id="24" name="Text 22"/>
          <p:cNvSpPr/>
          <p:nvPr/>
        </p:nvSpPr>
        <p:spPr>
          <a:xfrm>
            <a:off x="4754880" y="4265460"/>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Skill gap assessment</a:t>
            </a:r>
            <a:endParaRPr lang="en-US" sz="2000" dirty="0">
              <a:latin typeface="Times New Roman" panose="02020603050405020304" pitchFamily="18" charset="0"/>
              <a:cs typeface="Times New Roman" panose="02020603050405020304" pitchFamily="18" charset="0"/>
            </a:endParaRPr>
          </a:p>
        </p:txBody>
      </p:sp>
      <p:sp>
        <p:nvSpPr>
          <p:cNvPr id="25" name="Text 23"/>
          <p:cNvSpPr/>
          <p:nvPr/>
        </p:nvSpPr>
        <p:spPr>
          <a:xfrm>
            <a:off x="4754880" y="4539780"/>
            <a:ext cx="4114800" cy="274320"/>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 Learning paths</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0" y="4956048"/>
            <a:ext cx="9144000" cy="182880"/>
          </a:xfrm>
          <a:prstGeom prst="rect">
            <a:avLst/>
          </a:prstGeom>
          <a:noFill/>
          <a:ln/>
        </p:spPr>
        <p:txBody>
          <a:bodyPr wrap="square" rtlCol="0" anchor="ctr"/>
          <a:lstStyle/>
          <a:p>
            <a:pPr marL="0" indent="0" algn="ctr">
              <a:buNone/>
            </a:pPr>
            <a:r>
              <a:rPr lang="en-US" sz="1000" dirty="0">
                <a:solidFill>
                  <a:srgbClr val="7F8C8D"/>
                </a:solidFill>
                <a:latin typeface="Times New Roman" panose="02020603050405020304" pitchFamily="18" charset="0"/>
                <a:cs typeface="Times New Roman" panose="02020603050405020304" pitchFamily="18" charset="0"/>
              </a:rPr>
              <a:t>Ravi Raushan Singh  |  BTECH/60311/23  |  BIT Mesra Deoghar  |  Tata Steel Internship 2026</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39C1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 name="Shape 1"/>
          <p:cNvSpPr/>
          <p:nvPr/>
        </p:nvSpPr>
        <p:spPr>
          <a:xfrm>
            <a:off x="0" y="0"/>
            <a:ext cx="9144000" cy="685800"/>
          </a:xfrm>
          <a:prstGeom prst="rect">
            <a:avLst/>
          </a:prstGeom>
          <a:solidFill>
            <a:srgbClr val="1B4F7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 name="Text 2"/>
          <p:cNvSpPr/>
          <p:nvPr/>
        </p:nvSpPr>
        <p:spPr>
          <a:xfrm>
            <a:off x="274320" y="91440"/>
            <a:ext cx="8595360" cy="502920"/>
          </a:xfrm>
          <a:prstGeom prst="rect">
            <a:avLst/>
          </a:prstGeom>
          <a:noFill/>
          <a:ln/>
        </p:spPr>
        <p:txBody>
          <a:bodyPr wrap="square" rtlCol="0" anchor="ctr"/>
          <a:lstStyle/>
          <a:p>
            <a:pPr marL="0" indent="0" algn="l">
              <a:buNone/>
            </a:pPr>
            <a:r>
              <a:rPr lang="en-US" sz="2400" b="1" dirty="0">
                <a:solidFill>
                  <a:srgbClr val="FFFFFF"/>
                </a:solidFill>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457200" y="914400"/>
            <a:ext cx="8412480" cy="3886200"/>
          </a:xfrm>
          <a:prstGeom prst="rect">
            <a:avLst/>
          </a:prstGeom>
          <a:noFill/>
          <a:ln/>
        </p:spPr>
        <p:txBody>
          <a:bodyPr wrap="square" rtlCol="0" anchor="ctr"/>
          <a:lstStyle/>
          <a:p>
            <a:r>
              <a:rPr lang="en-US" sz="2000" dirty="0">
                <a:solidFill>
                  <a:srgbClr val="FFFFFF"/>
                </a:solidFill>
                <a:latin typeface="Times New Roman" panose="02020603050405020304" pitchFamily="18" charset="0"/>
                <a:cs typeface="Times New Roman" panose="02020603050405020304" pitchFamily="18" charset="0"/>
              </a:rPr>
              <a:t>[1] Tata Steel, Annual Report 2024–25. Available: Tata Steel Official Website.</a:t>
            </a:r>
          </a:p>
          <a:p>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a:solidFill>
                  <a:srgbClr val="FFFFFF"/>
                </a:solidFill>
                <a:latin typeface="Times New Roman" panose="02020603050405020304" pitchFamily="18" charset="0"/>
                <a:cs typeface="Times New Roman" panose="02020603050405020304" pitchFamily="18" charset="0"/>
              </a:rPr>
              <a:t>[2] P. Lewis et al., Retrieval-Augmented Generation for Knowledge-Intensive </a:t>
            </a:r>
          </a:p>
          <a:p>
            <a:r>
              <a:rPr lang="en-US" sz="2000" dirty="0">
                <a:solidFill>
                  <a:srgbClr val="FFFFFF"/>
                </a:solidFill>
                <a:latin typeface="Times New Roman" panose="02020603050405020304" pitchFamily="18" charset="0"/>
                <a:cs typeface="Times New Roman" panose="02020603050405020304" pitchFamily="18" charset="0"/>
              </a:rPr>
              <a:t>      NLP, NeurIPS, 2020.</a:t>
            </a:r>
          </a:p>
          <a:p>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a:solidFill>
                  <a:srgbClr val="FFFFFF"/>
                </a:solidFill>
                <a:latin typeface="Times New Roman" panose="02020603050405020304" pitchFamily="18" charset="0"/>
                <a:cs typeface="Times New Roman" panose="02020603050405020304" pitchFamily="18" charset="0"/>
              </a:rPr>
              <a:t>[3] Meta AI, The Llama 3 Herd of Models: Technical Report, 2024.</a:t>
            </a:r>
          </a:p>
          <a:p>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a:solidFill>
                  <a:srgbClr val="FFFFFF"/>
                </a:solidFill>
                <a:latin typeface="Times New Roman" panose="02020603050405020304" pitchFamily="18" charset="0"/>
                <a:cs typeface="Times New Roman" panose="02020603050405020304" pitchFamily="18" charset="0"/>
              </a:rPr>
              <a:t>[4] </a:t>
            </a:r>
            <a:r>
              <a:rPr lang="en-US" sz="2000" dirty="0" err="1">
                <a:solidFill>
                  <a:srgbClr val="FFFFFF"/>
                </a:solidFill>
                <a:latin typeface="Times New Roman" panose="02020603050405020304" pitchFamily="18" charset="0"/>
                <a:cs typeface="Times New Roman" panose="02020603050405020304" pitchFamily="18" charset="0"/>
              </a:rPr>
              <a:t>Groq</a:t>
            </a:r>
            <a:r>
              <a:rPr lang="en-US" sz="2000" dirty="0">
                <a:solidFill>
                  <a:srgbClr val="FFFFFF"/>
                </a:solidFill>
                <a:latin typeface="Times New Roman" panose="02020603050405020304" pitchFamily="18" charset="0"/>
                <a:cs typeface="Times New Roman" panose="02020603050405020304" pitchFamily="18" charset="0"/>
              </a:rPr>
              <a:t> Inc., </a:t>
            </a:r>
            <a:r>
              <a:rPr lang="en-US" sz="2000" dirty="0" err="1">
                <a:solidFill>
                  <a:srgbClr val="FFFFFF"/>
                </a:solidFill>
                <a:latin typeface="Times New Roman" panose="02020603050405020304" pitchFamily="18" charset="0"/>
                <a:cs typeface="Times New Roman" panose="02020603050405020304" pitchFamily="18" charset="0"/>
              </a:rPr>
              <a:t>Groq</a:t>
            </a:r>
            <a:r>
              <a:rPr lang="en-US" sz="2000" dirty="0">
                <a:solidFill>
                  <a:srgbClr val="FFFFFF"/>
                </a:solidFill>
                <a:latin typeface="Times New Roman" panose="02020603050405020304" pitchFamily="18" charset="0"/>
                <a:cs typeface="Times New Roman" panose="02020603050405020304" pitchFamily="18" charset="0"/>
              </a:rPr>
              <a:t> API Documentation.</a:t>
            </a:r>
          </a:p>
          <a:p>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a:solidFill>
                  <a:srgbClr val="FFFFFF"/>
                </a:solidFill>
                <a:latin typeface="Times New Roman" panose="02020603050405020304" pitchFamily="18" charset="0"/>
                <a:cs typeface="Times New Roman" panose="02020603050405020304" pitchFamily="18" charset="0"/>
              </a:rPr>
              <a:t>[5] Pallets Projects, Flask Documentation.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39C12"/>
          </a:solidFill>
          <a:ln/>
        </p:spPr>
        <p:txBody>
          <a:bodyPr/>
          <a:lstStyle/>
          <a:p>
            <a:endParaRPr lang="en-IN"/>
          </a:p>
        </p:txBody>
      </p:sp>
      <p:sp>
        <p:nvSpPr>
          <p:cNvPr id="3" name="Text 1"/>
          <p:cNvSpPr/>
          <p:nvPr/>
        </p:nvSpPr>
        <p:spPr>
          <a:xfrm>
            <a:off x="274319" y="236438"/>
            <a:ext cx="8654143"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200" normalizeH="0" baseline="0" noProof="0" dirty="0">
                <a:ln>
                  <a:noFill/>
                </a:ln>
                <a:solidFill>
                  <a:srgbClr val="AED6F1"/>
                </a:solidFill>
                <a:effectLst/>
                <a:uLnTx/>
                <a:uFillTx/>
                <a:latin typeface="Times New Roman" panose="02020603050405020304" pitchFamily="18" charset="0"/>
                <a:cs typeface="Times New Roman" panose="02020603050405020304" pitchFamily="18" charset="0"/>
              </a:rPr>
              <a:t>SUMMER INTERNSHIP PROJECT  |  TATA STEEL LIMITED</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Text 2"/>
          <p:cNvSpPr/>
          <p:nvPr/>
        </p:nvSpPr>
        <p:spPr>
          <a:xfrm>
            <a:off x="365760" y="583910"/>
            <a:ext cx="8412480" cy="10058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39C12"/>
                </a:solidFill>
                <a:effectLst/>
                <a:uLnTx/>
                <a:uFillTx/>
                <a:latin typeface="Times New Roman" panose="02020603050405020304" pitchFamily="18" charset="0"/>
                <a:ea typeface="Calibri" pitchFamily="34" charset="-122"/>
                <a:cs typeface="Times New Roman" panose="02020603050405020304" pitchFamily="18" charset="0"/>
              </a:rPr>
              <a:t>Thank You</a:t>
            </a:r>
            <a:endParaRPr kumimoji="0" lang="en-US" sz="5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Shape 3"/>
          <p:cNvSpPr/>
          <p:nvPr/>
        </p:nvSpPr>
        <p:spPr>
          <a:xfrm>
            <a:off x="365760" y="1617617"/>
            <a:ext cx="8412480" cy="36576"/>
          </a:xfrm>
          <a:prstGeom prst="rect">
            <a:avLst/>
          </a:prstGeom>
          <a:solidFill>
            <a:srgbClr val="2E86C1"/>
          </a:solidFill>
          <a:ln/>
        </p:spPr>
        <p:txBody>
          <a:bodyPr/>
          <a:lstStyle/>
          <a:p>
            <a:endParaRPr lang="en-IN"/>
          </a:p>
        </p:txBody>
      </p:sp>
      <p:sp>
        <p:nvSpPr>
          <p:cNvPr id="6" name="Text 4"/>
          <p:cNvSpPr/>
          <p:nvPr/>
        </p:nvSpPr>
        <p:spPr>
          <a:xfrm>
            <a:off x="365760" y="1874520"/>
            <a:ext cx="8778240" cy="457200"/>
          </a:xfrm>
          <a:prstGeom prst="rect">
            <a:avLst/>
          </a:prstGeom>
          <a:noFill/>
          <a:ln/>
        </p:spPr>
        <p:txBody>
          <a:bodyPr wrap="square" rtlCol="0" anchor="ctr"/>
          <a:lstStyle/>
          <a:p>
            <a:pPr lvl="0" algn="ctr">
              <a:defRPr/>
            </a:pPr>
            <a:r>
              <a:rPr kumimoji="0" lang="en-US" sz="2400" b="0" i="1"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TataBot — </a:t>
            </a:r>
            <a:r>
              <a:rPr lang="en-IN" sz="2400" i="1" dirty="0">
                <a:solidFill>
                  <a:srgbClr val="FFFFFF"/>
                </a:solidFill>
                <a:latin typeface="Times New Roman" panose="02020603050405020304" pitchFamily="18" charset="0"/>
                <a:cs typeface="Times New Roman" panose="02020603050405020304" pitchFamily="18" charset="0"/>
              </a:rPr>
              <a:t>An AI-Powered Knowledge Assistant for Learning &amp; Development</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Text 5"/>
          <p:cNvSpPr/>
          <p:nvPr/>
        </p:nvSpPr>
        <p:spPr>
          <a:xfrm>
            <a:off x="365760" y="2423160"/>
            <a:ext cx="841248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39C12"/>
                </a:solidFill>
                <a:effectLst/>
                <a:uLnTx/>
                <a:uFillTx/>
                <a:latin typeface="Times New Roman" panose="02020603050405020304" pitchFamily="18" charset="0"/>
                <a:cs typeface="Times New Roman" panose="02020603050405020304" pitchFamily="18" charset="0"/>
              </a:rPr>
              <a:t>"The right knowledge, to the right employee, at the right time."</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 name="Shape 6"/>
          <p:cNvSpPr/>
          <p:nvPr/>
        </p:nvSpPr>
        <p:spPr>
          <a:xfrm>
            <a:off x="365760" y="2944368"/>
            <a:ext cx="8412480" cy="36576"/>
          </a:xfrm>
          <a:prstGeom prst="rect">
            <a:avLst/>
          </a:prstGeom>
          <a:solidFill>
            <a:srgbClr val="2E86C1"/>
          </a:solidFill>
          <a:ln/>
        </p:spPr>
        <p:txBody>
          <a:bodyPr/>
          <a:lstStyle/>
          <a:p>
            <a:endParaRPr lang="en-IN"/>
          </a:p>
        </p:txBody>
      </p:sp>
      <p:sp>
        <p:nvSpPr>
          <p:cNvPr id="9" name="Shape 7"/>
          <p:cNvSpPr/>
          <p:nvPr/>
        </p:nvSpPr>
        <p:spPr>
          <a:xfrm>
            <a:off x="365760" y="3035808"/>
            <a:ext cx="2011680" cy="329184"/>
          </a:xfrm>
          <a:prstGeom prst="rect">
            <a:avLst/>
          </a:prstGeom>
          <a:solidFill>
            <a:srgbClr val="1B4F72"/>
          </a:solidFill>
          <a:ln/>
        </p:spPr>
        <p:txBody>
          <a:bodyPr/>
          <a:lstStyle/>
          <a:p>
            <a:endParaRPr lang="en-IN"/>
          </a:p>
        </p:txBody>
      </p:sp>
      <p:sp>
        <p:nvSpPr>
          <p:cNvPr id="10" name="Text 8"/>
          <p:cNvSpPr/>
          <p:nvPr/>
        </p:nvSpPr>
        <p:spPr>
          <a:xfrm>
            <a:off x="365760" y="3035808"/>
            <a:ext cx="2011680"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39C12"/>
                </a:solidFill>
                <a:effectLst/>
                <a:uLnTx/>
                <a:uFillTx/>
                <a:latin typeface="Times New Roman" panose="02020603050405020304" pitchFamily="18" charset="0"/>
                <a:cs typeface="Times New Roman" panose="02020603050405020304" pitchFamily="18" charset="0"/>
              </a:rPr>
              <a:t>Presented By</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Shape 9"/>
          <p:cNvSpPr/>
          <p:nvPr/>
        </p:nvSpPr>
        <p:spPr>
          <a:xfrm>
            <a:off x="2468880" y="3035808"/>
            <a:ext cx="6309360" cy="329184"/>
          </a:xfrm>
          <a:prstGeom prst="rect">
            <a:avLst/>
          </a:prstGeom>
          <a:solidFill>
            <a:srgbClr val="1A2A3A"/>
          </a:solidFill>
          <a:ln/>
        </p:spPr>
        <p:txBody>
          <a:bodyPr/>
          <a:lstStyle/>
          <a:p>
            <a:endParaRPr lang="en-IN"/>
          </a:p>
        </p:txBody>
      </p:sp>
      <p:sp>
        <p:nvSpPr>
          <p:cNvPr id="12" name="Text 10"/>
          <p:cNvSpPr/>
          <p:nvPr/>
        </p:nvSpPr>
        <p:spPr>
          <a:xfrm>
            <a:off x="2560320" y="3035808"/>
            <a:ext cx="612648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Ravi Raushan Singh  |  BTECH/60311/23</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3" name="Shape 11"/>
          <p:cNvSpPr/>
          <p:nvPr/>
        </p:nvSpPr>
        <p:spPr>
          <a:xfrm>
            <a:off x="365760" y="3419856"/>
            <a:ext cx="2011680" cy="329184"/>
          </a:xfrm>
          <a:prstGeom prst="rect">
            <a:avLst/>
          </a:prstGeom>
          <a:solidFill>
            <a:srgbClr val="1B4F72"/>
          </a:solidFill>
          <a:ln/>
        </p:spPr>
        <p:txBody>
          <a:bodyPr/>
          <a:lstStyle/>
          <a:p>
            <a:endParaRPr lang="en-IN"/>
          </a:p>
        </p:txBody>
      </p:sp>
      <p:sp>
        <p:nvSpPr>
          <p:cNvPr id="14" name="Text 12"/>
          <p:cNvSpPr/>
          <p:nvPr/>
        </p:nvSpPr>
        <p:spPr>
          <a:xfrm>
            <a:off x="365760" y="3419856"/>
            <a:ext cx="2011680"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39C12"/>
                </a:solidFill>
                <a:effectLst/>
                <a:uLnTx/>
                <a:uFillTx/>
                <a:latin typeface="Times New Roman" panose="02020603050405020304" pitchFamily="18" charset="0"/>
                <a:cs typeface="Times New Roman" panose="02020603050405020304" pitchFamily="18" charset="0"/>
              </a:rPr>
              <a:t>College</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5" name="Shape 13"/>
          <p:cNvSpPr/>
          <p:nvPr/>
        </p:nvSpPr>
        <p:spPr>
          <a:xfrm>
            <a:off x="2468880" y="3419856"/>
            <a:ext cx="6309360" cy="329184"/>
          </a:xfrm>
          <a:prstGeom prst="rect">
            <a:avLst/>
          </a:prstGeom>
          <a:solidFill>
            <a:srgbClr val="1A2A3A"/>
          </a:solidFill>
          <a:ln/>
        </p:spPr>
        <p:txBody>
          <a:bodyPr/>
          <a:lstStyle/>
          <a:p>
            <a:endParaRPr lang="en-IN"/>
          </a:p>
        </p:txBody>
      </p:sp>
      <p:sp>
        <p:nvSpPr>
          <p:cNvPr id="16" name="Text 14"/>
          <p:cNvSpPr/>
          <p:nvPr/>
        </p:nvSpPr>
        <p:spPr>
          <a:xfrm>
            <a:off x="2560320" y="3419856"/>
            <a:ext cx="612648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BIT Mesra </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7" name="Shape 15"/>
          <p:cNvSpPr/>
          <p:nvPr/>
        </p:nvSpPr>
        <p:spPr>
          <a:xfrm>
            <a:off x="365760" y="3803904"/>
            <a:ext cx="2011680" cy="329184"/>
          </a:xfrm>
          <a:prstGeom prst="rect">
            <a:avLst/>
          </a:prstGeom>
          <a:solidFill>
            <a:srgbClr val="1B4F72"/>
          </a:solidFill>
          <a:ln/>
        </p:spPr>
        <p:txBody>
          <a:bodyPr/>
          <a:lstStyle/>
          <a:p>
            <a:endParaRPr lang="en-IN"/>
          </a:p>
        </p:txBody>
      </p:sp>
      <p:sp>
        <p:nvSpPr>
          <p:cNvPr id="18" name="Text 16"/>
          <p:cNvSpPr/>
          <p:nvPr/>
        </p:nvSpPr>
        <p:spPr>
          <a:xfrm>
            <a:off x="365760" y="3803904"/>
            <a:ext cx="2011680"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39C12"/>
                </a:solidFill>
                <a:effectLst/>
                <a:uLnTx/>
                <a:uFillTx/>
                <a:latin typeface="Times New Roman" panose="02020603050405020304" pitchFamily="18" charset="0"/>
                <a:cs typeface="Times New Roman" panose="02020603050405020304" pitchFamily="18" charset="0"/>
              </a:rPr>
              <a:t>Mentor</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9" name="Shape 17"/>
          <p:cNvSpPr/>
          <p:nvPr/>
        </p:nvSpPr>
        <p:spPr>
          <a:xfrm>
            <a:off x="2468880" y="3803904"/>
            <a:ext cx="6309360" cy="329184"/>
          </a:xfrm>
          <a:prstGeom prst="rect">
            <a:avLst/>
          </a:prstGeom>
          <a:solidFill>
            <a:srgbClr val="1A2A3A"/>
          </a:solidFill>
          <a:ln/>
        </p:spPr>
        <p:txBody>
          <a:bodyPr/>
          <a:lstStyle/>
          <a:p>
            <a:endParaRPr lang="en-IN"/>
          </a:p>
        </p:txBody>
      </p:sp>
      <p:sp>
        <p:nvSpPr>
          <p:cNvPr id="20" name="Text 18"/>
          <p:cNvSpPr/>
          <p:nvPr/>
        </p:nvSpPr>
        <p:spPr>
          <a:xfrm>
            <a:off x="2560320" y="3803904"/>
            <a:ext cx="612648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Mr. Abhinav Ashish, Tata Steel Limited</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Shape 19"/>
          <p:cNvSpPr/>
          <p:nvPr/>
        </p:nvSpPr>
        <p:spPr>
          <a:xfrm>
            <a:off x="365760" y="4187952"/>
            <a:ext cx="2011680" cy="329184"/>
          </a:xfrm>
          <a:prstGeom prst="rect">
            <a:avLst/>
          </a:prstGeom>
          <a:solidFill>
            <a:srgbClr val="1B4F72"/>
          </a:solidFill>
          <a:ln/>
        </p:spPr>
        <p:txBody>
          <a:bodyPr/>
          <a:lstStyle/>
          <a:p>
            <a:endParaRPr lang="en-IN"/>
          </a:p>
        </p:txBody>
      </p:sp>
      <p:sp>
        <p:nvSpPr>
          <p:cNvPr id="22" name="Text 20"/>
          <p:cNvSpPr/>
          <p:nvPr/>
        </p:nvSpPr>
        <p:spPr>
          <a:xfrm>
            <a:off x="365760" y="4187952"/>
            <a:ext cx="2011680"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39C12"/>
                </a:solidFill>
                <a:effectLst/>
                <a:uLnTx/>
                <a:uFillTx/>
                <a:latin typeface="Times New Roman" panose="02020603050405020304" pitchFamily="18" charset="0"/>
                <a:cs typeface="Times New Roman" panose="02020603050405020304" pitchFamily="18" charset="0"/>
              </a:rPr>
              <a:t>Guide</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3" name="Shape 21"/>
          <p:cNvSpPr/>
          <p:nvPr/>
        </p:nvSpPr>
        <p:spPr>
          <a:xfrm>
            <a:off x="2468880" y="4187952"/>
            <a:ext cx="6309360" cy="329184"/>
          </a:xfrm>
          <a:prstGeom prst="rect">
            <a:avLst/>
          </a:prstGeom>
          <a:solidFill>
            <a:srgbClr val="1A2A3A"/>
          </a:solidFill>
          <a:ln/>
        </p:spPr>
        <p:txBody>
          <a:bodyPr/>
          <a:lstStyle/>
          <a:p>
            <a:endParaRPr lang="en-IN"/>
          </a:p>
        </p:txBody>
      </p:sp>
      <p:sp>
        <p:nvSpPr>
          <p:cNvPr id="24" name="Text 22"/>
          <p:cNvSpPr/>
          <p:nvPr/>
        </p:nvSpPr>
        <p:spPr>
          <a:xfrm>
            <a:off x="2560320" y="4187952"/>
            <a:ext cx="612648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Ms. Anita Kushwaha, BIT Mesra </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 name="Shape 23"/>
          <p:cNvSpPr/>
          <p:nvPr/>
        </p:nvSpPr>
        <p:spPr>
          <a:xfrm>
            <a:off x="365760" y="4572000"/>
            <a:ext cx="2011680" cy="329184"/>
          </a:xfrm>
          <a:prstGeom prst="rect">
            <a:avLst/>
          </a:prstGeom>
          <a:solidFill>
            <a:srgbClr val="1B4F72"/>
          </a:solidFill>
          <a:ln/>
        </p:spPr>
        <p:txBody>
          <a:bodyPr/>
          <a:lstStyle/>
          <a:p>
            <a:endParaRPr lang="en-IN"/>
          </a:p>
        </p:txBody>
      </p:sp>
      <p:sp>
        <p:nvSpPr>
          <p:cNvPr id="26" name="Text 24"/>
          <p:cNvSpPr/>
          <p:nvPr/>
        </p:nvSpPr>
        <p:spPr>
          <a:xfrm>
            <a:off x="365760" y="4572000"/>
            <a:ext cx="2011680"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39C12"/>
                </a:solidFill>
                <a:effectLst/>
                <a:uLnTx/>
                <a:uFillTx/>
                <a:latin typeface="Times New Roman" panose="02020603050405020304" pitchFamily="18" charset="0"/>
                <a:cs typeface="Times New Roman" panose="02020603050405020304" pitchFamily="18" charset="0"/>
              </a:rPr>
              <a:t>Duration</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7" name="Shape 25"/>
          <p:cNvSpPr/>
          <p:nvPr/>
        </p:nvSpPr>
        <p:spPr>
          <a:xfrm>
            <a:off x="2468880" y="4572000"/>
            <a:ext cx="6309360" cy="329184"/>
          </a:xfrm>
          <a:prstGeom prst="rect">
            <a:avLst/>
          </a:prstGeom>
          <a:solidFill>
            <a:srgbClr val="1A2A3A"/>
          </a:solidFill>
          <a:ln/>
        </p:spPr>
        <p:txBody>
          <a:bodyPr/>
          <a:lstStyle/>
          <a:p>
            <a:endParaRPr lang="en-IN"/>
          </a:p>
        </p:txBody>
      </p:sp>
      <p:sp>
        <p:nvSpPr>
          <p:cNvPr id="28" name="Text 26"/>
          <p:cNvSpPr/>
          <p:nvPr/>
        </p:nvSpPr>
        <p:spPr>
          <a:xfrm>
            <a:off x="2560320" y="4572000"/>
            <a:ext cx="612648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May 19, 2026 — July 14, 2026  (8 Weeks)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
        <a:cs typeface="Noto Sans CJK SC"/>
      </a:majorFont>
      <a:minorFont>
        <a:latin typeface="Calibri"/>
        <a:ea typeface=""/>
        <a:cs typeface="Noto Sans CJK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Noto Sans CJK S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Noto Sans CJK SC"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1870</TotalTime>
  <Words>1321</Words>
  <Application>Microsoft Office PowerPoint</Application>
  <PresentationFormat>On-screen Show (16:9)</PresentationFormat>
  <Paragraphs>268</Paragraphs>
  <Slides>16</Slides>
  <Notes>16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Calibri</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Ravi Raushan Singh</cp:lastModifiedBy>
  <cp:revision>41</cp:revision>
  <dcterms:created xsi:type="dcterms:W3CDTF">2026-07-31T17:48:18Z</dcterms:created>
  <dcterms:modified xsi:type="dcterms:W3CDTF">2026-08-04T08:10:59Z</dcterms:modified>
</cp:coreProperties>
</file>